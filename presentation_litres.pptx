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B452"/>
    <a:srgbClr val="449E46"/>
    <a:srgbClr val="2DB52D"/>
    <a:srgbClr val="33CC33"/>
    <a:srgbClr val="339933"/>
    <a:srgbClr val="009900"/>
    <a:srgbClr val="339966"/>
    <a:srgbClr val="46A131"/>
    <a:srgbClr val="22963E"/>
    <a:srgbClr val="39D3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1" autoAdjust="0"/>
    <p:restoredTop sz="94653" autoAdjust="0"/>
  </p:normalViewPr>
  <p:slideViewPr>
    <p:cSldViewPr>
      <p:cViewPr>
        <p:scale>
          <a:sx n="100" d="100"/>
          <a:sy n="100" d="100"/>
        </p:scale>
        <p:origin x="-672" y="-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AAF16A9-B34B-4F3D-838F-352F13BB605C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7B09AB1-4A26-459F-A9F4-F23F54D5F03D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package" Target="../embeddings/Microsoft_Word_Document6.docx"/><Relationship Id="rId3" Type="http://schemas.openxmlformats.org/officeDocument/2006/relationships/package" Target="../embeddings/Microsoft_Word_Document1.docx"/><Relationship Id="rId7" Type="http://schemas.openxmlformats.org/officeDocument/2006/relationships/package" Target="../embeddings/Microsoft_Word_Document3.docx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emf"/><Relationship Id="rId11" Type="http://schemas.openxmlformats.org/officeDocument/2006/relationships/package" Target="../embeddings/Microsoft_Word_Document5.docx"/><Relationship Id="rId5" Type="http://schemas.openxmlformats.org/officeDocument/2006/relationships/package" Target="../embeddings/Microsoft_Word_Document2.docx"/><Relationship Id="rId15" Type="http://schemas.openxmlformats.org/officeDocument/2006/relationships/package" Target="../embeddings/Microsoft_Word_Document7.docx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package" Target="../embeddings/Microsoft_Word_Document4.docx"/><Relationship Id="rId1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package" Target="../embeddings/Microsoft_Word_Document8.docx"/><Relationship Id="rId7" Type="http://schemas.openxmlformats.org/officeDocument/2006/relationships/package" Target="../embeddings/Microsoft_Word_Document10.docx"/><Relationship Id="rId12" Type="http://schemas.openxmlformats.org/officeDocument/2006/relationships/image" Target="../media/image19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emf"/><Relationship Id="rId11" Type="http://schemas.openxmlformats.org/officeDocument/2006/relationships/package" Target="../embeddings/Microsoft_Word_Document12.docx"/><Relationship Id="rId5" Type="http://schemas.openxmlformats.org/officeDocument/2006/relationships/package" Target="../embeddings/Microsoft_Word_Document9.docx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package" Target="../embeddings/Microsoft_Word_Document11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444744" y="2348880"/>
            <a:ext cx="7406640" cy="936104"/>
          </a:xfrm>
        </p:spPr>
        <p:txBody>
          <a:bodyPr>
            <a:normAutofit fontScale="92500"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Дипломная работа</a:t>
            </a: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Тестирование раздела "Популярное"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сайта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ru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648" y="476672"/>
            <a:ext cx="748883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Times New Roman" pitchFamily="18" charset="0"/>
                <a:cs typeface="Times New Roman" pitchFamily="18" charset="0"/>
              </a:rPr>
              <a:t>АВТОНОМНАЯ НЕКОММЕРЧЕСКАЯ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ОРГАНИЗАЦИЯ 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ДОПОЛНИТЕЛЬНОГО ПРОФЕСИНОАЛЬНГО ОБРАЗОВАНИЯ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«АКАДЕМИЯ ТОП»</a:t>
            </a:r>
          </a:p>
          <a:p>
            <a:pPr algn="ctr"/>
            <a:endParaRPr lang="ru-RU" sz="1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ПРОГРАММА «ТЕСТИРОВАНИЕ ПО»</a:t>
            </a:r>
          </a:p>
          <a:p>
            <a:pPr algn="ctr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ГРУППА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QA51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6056" y="4221088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Студент: Ваньков Дмитрий Петрович</a:t>
            </a:r>
          </a:p>
          <a:p>
            <a:endParaRPr lang="ru-RU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Преподаватель: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Шабунин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Петр Юрьевич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1446" y="6021288"/>
            <a:ext cx="11521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>
                <a:latin typeface="Times New Roman" pitchFamily="18" charset="0"/>
                <a:cs typeface="Times New Roman" pitchFamily="18" charset="0"/>
              </a:rPr>
              <a:t>2026</a:t>
            </a:r>
            <a:endParaRPr lang="ru-RU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28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59632" y="548680"/>
            <a:ext cx="3816424" cy="457200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Цель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дипломной работы: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2265" y="1340768"/>
            <a:ext cx="6984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базе существующего веб-приложения (веб-сайта) продемонстрировать полученные  знания в области тестирования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59577" y="3212976"/>
            <a:ext cx="68386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Подобрать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веб-приложение.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Провести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тестирование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функциональное, кросс-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браузерное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юзабилити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UI –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автоматизацию включая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587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ручное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тестирование (составление тест-плана, чек-листа, тест-кейсов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587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автоматизированное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тестирование (написание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358775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документирование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найденных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дефектов.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383109" y="2567612"/>
            <a:ext cx="1363861" cy="457200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Задача: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90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МОИ ДОКУМЕНТЫ\IT\ДИПЛОМ\Test_Litres\Litr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77" y="586513"/>
            <a:ext cx="7560840" cy="226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28777" y="94555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качестве объекта тестирования выбран раздел «Популярное» на сайте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ru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/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390953" y="1737151"/>
            <a:ext cx="7498664" cy="4932209"/>
          </a:xfrm>
          <a:prstGeom prst="roundRect">
            <a:avLst>
              <a:gd name="adj" fmla="val 2279"/>
            </a:avLst>
          </a:prstGeom>
          <a:solidFill>
            <a:schemeClr val="bg2">
              <a:alpha val="4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/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Тест План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t"/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Тестирование функциональности поиска и фильтрации предложений в разделе "Популярное" на сайте </a:t>
            </a:r>
            <a:r>
              <a:rPr lang="en-US" sz="1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</a:t>
            </a:r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fontAlgn="t"/>
            <a:r>
              <a:rPr lang="en-US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Введение.</a:t>
            </a:r>
          </a:p>
          <a:p>
            <a:pPr lvl="0" fontAlgn="t"/>
            <a:r>
              <a:rPr lang="ru-RU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Сайт </a:t>
            </a:r>
            <a:r>
              <a:rPr lang="en-US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Litres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ru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функционально богат, имеет сложную логику, фильтры, взаимодействие с базой данных и личным кабинетом, что позволит продемонстрировать все аспекты тестирования. </a:t>
            </a:r>
          </a:p>
          <a:p>
            <a:pPr lvl="0" fontAlgn="t"/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Цель.</a:t>
            </a:r>
          </a:p>
          <a:p>
            <a:pPr lvl="0" fontAlgn="t"/>
            <a:r>
              <a:rPr lang="ru-RU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Проверить 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корректность работы механизмов поиска, фильтрации и отображения предложений в разделе «Популярное» на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десктопной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версии сайта.</a:t>
            </a:r>
          </a:p>
          <a:p>
            <a:pPr lvl="0" fontAlgn="t"/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Объем тестирования.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 объем тестирования входит главная страница раздела «Популярное», строка поиска, фильтры (жанры, формат, язык, высокая оценка), карточка предложения (книги). 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 объем тестирования не входит мобильное приложение, разделы «мои книги» и «войти». </a:t>
            </a:r>
          </a:p>
          <a:p>
            <a:pPr lvl="0" fontAlgn="t"/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Ресурсы.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fontAlgn="t">
              <a:buFont typeface="Arial" pitchFamily="34" charset="0"/>
              <a:buChar char="•"/>
            </a:pP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ПО:</a:t>
            </a:r>
          </a:p>
          <a:p>
            <a:pPr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браузеры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Chrome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Firefox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для проверки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API </a:t>
            </a:r>
            <a:r>
              <a:rPr lang="en-US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DevTools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Postman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для разработки </a:t>
            </a:r>
            <a:r>
              <a:rPr lang="en-US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PyCharm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fontAlgn="t"/>
            <a:r>
              <a:rPr lang="en-US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ru-RU" sz="14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Selenium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PyTest</a:t>
            </a:r>
            <a:r>
              <a:rPr lang="ru-RU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fontAlgn="t">
              <a:buFont typeface="Arial" pitchFamily="34" charset="0"/>
              <a:buChar char="•"/>
            </a:pP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Данные:</a:t>
            </a:r>
          </a:p>
          <a:p>
            <a:pPr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набор поисковых запросов;</a:t>
            </a:r>
          </a:p>
          <a:p>
            <a:pPr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тестовые данные (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невалидные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символы, спецсимволы</a:t>
            </a:r>
            <a:r>
              <a:rPr lang="ru-RU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89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576" y="5013176"/>
            <a:ext cx="7464359" cy="1726134"/>
          </a:xfrm>
          <a:prstGeom prst="rect">
            <a:avLst/>
          </a:prstGeom>
        </p:spPr>
      </p:pic>
      <p:sp>
        <p:nvSpPr>
          <p:cNvPr id="4" name="Скругленный прямоугольник 3"/>
          <p:cNvSpPr/>
          <p:nvPr/>
        </p:nvSpPr>
        <p:spPr>
          <a:xfrm>
            <a:off x="1331640" y="188640"/>
            <a:ext cx="7464359" cy="5256584"/>
          </a:xfrm>
          <a:prstGeom prst="roundRect">
            <a:avLst>
              <a:gd name="adj" fmla="val 2279"/>
            </a:avLst>
          </a:prstGeom>
          <a:solidFill>
            <a:schemeClr val="bg2">
              <a:alpha val="4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fontAlgn="t"/>
            <a:endParaRPr lang="ru-RU" sz="1400" dirty="0">
              <a:solidFill>
                <a:srgbClr val="002060"/>
              </a:solidFill>
            </a:endParaRPr>
          </a:p>
          <a:p>
            <a:pPr lvl="0" fontAlgn="t"/>
            <a:r>
              <a:rPr lang="en-US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Подходы </a:t>
            </a:r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 стратегия тестирования: 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Ручное исследовательское тестирование.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Функциональное тестирование. Позитивные и негативные сценарии.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Кросс-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браузерное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тестирование.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Автоматизация критического пути (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UI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 fontAlgn="t"/>
            <a:r>
              <a:rPr lang="en-US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Критерии </a:t>
            </a:r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приемки: 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Поиск выдает релевантные результаты запросам.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Фильтры применяются корректно и обновляют список без ошибок.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Все блокирующие и критические баги исправлены.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Процент успешных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90%.</a:t>
            </a:r>
          </a:p>
          <a:p>
            <a:pPr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Риски</a:t>
            </a:r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Изменение интерфейса сайта во время подготовки программы тестирования. Результатом станет обновление локаторов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Блокировка по </a:t>
            </a:r>
            <a:r>
              <a:rPr lang="en-US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IP 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 частых запросах. Потребуются паузы в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автотестах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и ротация.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График</a:t>
            </a:r>
            <a:r>
              <a:rPr lang="ru-RU" sz="1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Составление интеллект-карты (</a:t>
            </a:r>
            <a:r>
              <a:rPr lang="en-US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mindmap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Составление чек-листа.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Написание тест-кейсов.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Функциональное тестирование.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Кросс-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браузерное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юзабилити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тестирование.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Написание баг-репортов.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Написание и отладка </a:t>
            </a:r>
            <a:r>
              <a:rPr lang="ru-RU" sz="1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автотестов</a:t>
            </a:r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fontAlgn="t"/>
            <a:r>
              <a:rPr lang="ru-RU" sz="1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Подготовка итогового отчета.</a:t>
            </a:r>
          </a:p>
          <a:p>
            <a:pPr algn="ctr" fontAlgn="t"/>
            <a:endParaRPr lang="ru-RU" sz="1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23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37" y="1412776"/>
            <a:ext cx="7365104" cy="5042170"/>
          </a:xfrm>
          <a:prstGeom prst="rect">
            <a:avLst/>
          </a:prstGeom>
        </p:spPr>
      </p:pic>
      <p:sp>
        <p:nvSpPr>
          <p:cNvPr id="6" name="Подзаголовок 2"/>
          <p:cNvSpPr txBox="1">
            <a:spLocks/>
          </p:cNvSpPr>
          <p:nvPr/>
        </p:nvSpPr>
        <p:spPr>
          <a:xfrm>
            <a:off x="1259632" y="260648"/>
            <a:ext cx="2028128" cy="779512"/>
          </a:xfrm>
          <a:prstGeom prst="rect">
            <a:avLst/>
          </a:prstGeom>
        </p:spPr>
        <p:txBody>
          <a:bodyPr tIns="0">
            <a:normAutofit lnSpcReduction="10000"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MindMap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нтеллект-карта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887" y="380231"/>
            <a:ext cx="2852641" cy="9142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826" y="380231"/>
            <a:ext cx="2345736" cy="9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6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188640"/>
            <a:ext cx="7706280" cy="3758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9634" y="4437112"/>
            <a:ext cx="7778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1950"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MindMap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-карта позволила структурировать данные по тестируемым страницам,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проанализировать рабочие процессы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определть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объем покрытия, определить план тестов.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31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>
          <a:xfrm>
            <a:off x="1259632" y="19426"/>
            <a:ext cx="1512168" cy="457200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Чек-лист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3103794" y="63360"/>
            <a:ext cx="58606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5100" algn="l"/>
              </a:tabLst>
            </a:pPr>
            <a:r>
              <a:rPr kumimoji="0" lang="ru-RU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Условные обозначения: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165100" algn="l"/>
              </a:tabLst>
            </a:pPr>
            <a:r>
              <a:rPr kumimoji="0" lang="ru-RU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Ф – функциональное тестирование;  Ю – </a:t>
            </a:r>
            <a:r>
              <a:rPr kumimoji="0" lang="ru-RU" sz="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юзабилити</a:t>
            </a:r>
            <a:r>
              <a:rPr kumimoji="0" lang="ru-RU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тестирование;  </a:t>
            </a:r>
            <a:r>
              <a:rPr lang="ru-RU" sz="9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КБ – кросс-</a:t>
            </a:r>
            <a:r>
              <a:rPr lang="ru-RU" sz="900" dirty="0" err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браузерное</a:t>
            </a:r>
            <a:r>
              <a:rPr lang="ru-RU" sz="9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тестирование</a:t>
            </a: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187624" y="332656"/>
            <a:ext cx="1944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ru-RU" sz="900" b="1" dirty="0" smtClean="0">
                <a:latin typeface="Times New Roman" pitchFamily="18" charset="0"/>
                <a:cs typeface="Times New Roman" pitchFamily="18" charset="0"/>
              </a:rPr>
              <a:t>1. Главная </a:t>
            </a:r>
            <a:r>
              <a:rPr lang="ru-RU" sz="900" b="1" dirty="0">
                <a:latin typeface="Times New Roman" pitchFamily="18" charset="0"/>
                <a:cs typeface="Times New Roman" pitchFamily="18" charset="0"/>
              </a:rPr>
              <a:t>страница раздела</a:t>
            </a:r>
            <a:endParaRPr lang="ru-RU" sz="900" dirty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ru-RU" sz="900" dirty="0" smtClean="0">
                <a:latin typeface="Times New Roman" pitchFamily="18" charset="0"/>
                <a:cs typeface="Times New Roman" pitchFamily="18" charset="0"/>
              </a:rPr>
              <a:t>1.1 Загрузка </a:t>
            </a:r>
            <a:r>
              <a:rPr lang="ru-RU" sz="900" dirty="0">
                <a:latin typeface="Times New Roman" pitchFamily="18" charset="0"/>
                <a:cs typeface="Times New Roman" pitchFamily="18" charset="0"/>
              </a:rPr>
              <a:t>и отображение</a:t>
            </a:r>
          </a:p>
        </p:txBody>
      </p:sp>
      <p:graphicFrame>
        <p:nvGraphicFramePr>
          <p:cNvPr id="28" name="Объект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021215"/>
              </p:ext>
            </p:extLst>
          </p:nvPr>
        </p:nvGraphicFramePr>
        <p:xfrm>
          <a:off x="1043608" y="735516"/>
          <a:ext cx="3742169" cy="2137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Document" r:id="rId3" imgW="6084454" imgH="3709933" progId="Word.Document.12">
                  <p:embed/>
                </p:oleObj>
              </mc:Choice>
              <mc:Fallback>
                <p:oleObj name="Document" r:id="rId3" imgW="6084454" imgH="37099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735516"/>
                        <a:ext cx="3742169" cy="2137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Прямоугольник 28"/>
          <p:cNvSpPr/>
          <p:nvPr/>
        </p:nvSpPr>
        <p:spPr>
          <a:xfrm>
            <a:off x="1259632" y="2657095"/>
            <a:ext cx="1503040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5000"/>
              </a:lnSpc>
              <a:spcAft>
                <a:spcPts val="0"/>
              </a:spcAft>
            </a:pPr>
            <a:r>
              <a:rPr lang="ru-RU" sz="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2. Поисковая </a:t>
            </a:r>
            <a:r>
              <a:rPr lang="ru-RU" sz="900" b="1" dirty="0">
                <a:latin typeface="Times New Roman" pitchFamily="18" charset="0"/>
                <a:ea typeface="Calibri"/>
                <a:cs typeface="Times New Roman" pitchFamily="18" charset="0"/>
              </a:rPr>
              <a:t>строка</a:t>
            </a:r>
            <a:endParaRPr lang="ru-RU" sz="9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900" dirty="0">
                <a:latin typeface="Times New Roman" pitchFamily="18" charset="0"/>
                <a:ea typeface="Calibri"/>
                <a:cs typeface="Times New Roman" pitchFamily="18" charset="0"/>
              </a:rPr>
              <a:t>2</a:t>
            </a:r>
            <a:r>
              <a:rPr lang="ru-RU" sz="900" dirty="0">
                <a:latin typeface="Times New Roman" pitchFamily="18" charset="0"/>
                <a:ea typeface="Calibri"/>
                <a:cs typeface="Times New Roman" pitchFamily="18" charset="0"/>
              </a:rPr>
              <a:t>.1 Позитивные сценарии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0" name="Объект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825182"/>
              </p:ext>
            </p:extLst>
          </p:nvPr>
        </p:nvGraphicFramePr>
        <p:xfrm>
          <a:off x="1043609" y="3066417"/>
          <a:ext cx="3744416" cy="1822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Document" r:id="rId5" imgW="6084454" imgH="3132472" progId="Word.Document.12">
                  <p:embed/>
                </p:oleObj>
              </mc:Choice>
              <mc:Fallback>
                <p:oleObj name="Document" r:id="rId5" imgW="6084454" imgH="31324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3609" y="3066417"/>
                        <a:ext cx="3744416" cy="18229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Прямоугольник 31"/>
          <p:cNvSpPr/>
          <p:nvPr/>
        </p:nvSpPr>
        <p:spPr>
          <a:xfrm>
            <a:off x="1221677" y="4700552"/>
            <a:ext cx="1503040" cy="238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2</a:t>
            </a:r>
            <a:r>
              <a:rPr lang="ru-RU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.2 Негативные </a:t>
            </a:r>
            <a:r>
              <a:rPr lang="ru-RU" sz="900" dirty="0">
                <a:latin typeface="Times New Roman" pitchFamily="18" charset="0"/>
                <a:ea typeface="Calibri"/>
                <a:cs typeface="Times New Roman" pitchFamily="18" charset="0"/>
              </a:rPr>
              <a:t>сценарии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1" name="Объект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097587"/>
              </p:ext>
            </p:extLst>
          </p:nvPr>
        </p:nvGraphicFramePr>
        <p:xfrm>
          <a:off x="1043608" y="4939400"/>
          <a:ext cx="3744416" cy="1834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Document" r:id="rId7" imgW="6084454" imgH="2981627" progId="Word.Document.12">
                  <p:embed/>
                </p:oleObj>
              </mc:Choice>
              <mc:Fallback>
                <p:oleObj name="Document" r:id="rId7" imgW="6084454" imgH="29816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8" y="4939400"/>
                        <a:ext cx="3744416" cy="18345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Прямоугольник 34"/>
          <p:cNvSpPr/>
          <p:nvPr/>
        </p:nvSpPr>
        <p:spPr>
          <a:xfrm>
            <a:off x="4963803" y="476224"/>
            <a:ext cx="1503040" cy="238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2</a:t>
            </a:r>
            <a:r>
              <a:rPr lang="ru-RU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.3 Особенности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4" name="Объект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751517"/>
              </p:ext>
            </p:extLst>
          </p:nvPr>
        </p:nvGraphicFramePr>
        <p:xfrm>
          <a:off x="4860031" y="715072"/>
          <a:ext cx="4032449" cy="2193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Document" r:id="rId9" imgW="6084454" imgH="3309239" progId="Word.Document.12">
                  <p:embed/>
                </p:oleObj>
              </mc:Choice>
              <mc:Fallback>
                <p:oleObj name="Document" r:id="rId9" imgW="6084454" imgH="33092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60031" y="715072"/>
                        <a:ext cx="4032449" cy="21934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Прямоугольник 36"/>
          <p:cNvSpPr/>
          <p:nvPr/>
        </p:nvSpPr>
        <p:spPr>
          <a:xfrm>
            <a:off x="4963802" y="2708920"/>
            <a:ext cx="1840445" cy="251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5000"/>
              </a:lnSpc>
              <a:spcAft>
                <a:spcPts val="0"/>
              </a:spcAft>
            </a:pPr>
            <a:r>
              <a:rPr lang="ru-RU" sz="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3. Боковая панель. Фильтры.</a:t>
            </a:r>
            <a:endParaRPr lang="ru-RU" sz="9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6" name="Объект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401836"/>
              </p:ext>
            </p:extLst>
          </p:nvPr>
        </p:nvGraphicFramePr>
        <p:xfrm>
          <a:off x="4860032" y="2960526"/>
          <a:ext cx="4008284" cy="972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Document" r:id="rId11" imgW="6084454" imgH="1476773" progId="Word.Document.12">
                  <p:embed/>
                </p:oleObj>
              </mc:Choice>
              <mc:Fallback>
                <p:oleObj name="Document" r:id="rId11" imgW="6084454" imgH="14767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60032" y="2960526"/>
                        <a:ext cx="4008284" cy="972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Прямоугольник 38"/>
          <p:cNvSpPr/>
          <p:nvPr/>
        </p:nvSpPr>
        <p:spPr>
          <a:xfrm>
            <a:off x="5015658" y="3738198"/>
            <a:ext cx="1644574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5000"/>
              </a:lnSpc>
              <a:spcAft>
                <a:spcPts val="0"/>
              </a:spcAft>
            </a:pPr>
            <a:r>
              <a:rPr lang="ru-RU" sz="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4. Список книг</a:t>
            </a:r>
            <a:endParaRPr lang="ru-RU" sz="900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4.1 Отображение элементов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38" name="Объект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774751"/>
              </p:ext>
            </p:extLst>
          </p:nvPr>
        </p:nvGraphicFramePr>
        <p:xfrm>
          <a:off x="4860032" y="4115580"/>
          <a:ext cx="4032448" cy="1432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Document" r:id="rId13" imgW="6084454" imgH="2162238" progId="Word.Document.12">
                  <p:embed/>
                </p:oleObj>
              </mc:Choice>
              <mc:Fallback>
                <p:oleObj name="Document" r:id="rId13" imgW="6084454" imgH="2162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60032" y="4115580"/>
                        <a:ext cx="4032448" cy="1432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Прямоугольник 40"/>
          <p:cNvSpPr/>
          <p:nvPr/>
        </p:nvSpPr>
        <p:spPr>
          <a:xfrm>
            <a:off x="5086425" y="5301208"/>
            <a:ext cx="1503040" cy="251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4.2 Действия в списке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40" name="Объект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04402"/>
              </p:ext>
            </p:extLst>
          </p:nvPr>
        </p:nvGraphicFramePr>
        <p:xfrm>
          <a:off x="4860032" y="5531474"/>
          <a:ext cx="4020356" cy="663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Document" r:id="rId15" imgW="6084454" imgH="1004796" progId="Word.Document.12">
                  <p:embed/>
                </p:oleObj>
              </mc:Choice>
              <mc:Fallback>
                <p:oleObj name="Document" r:id="rId15" imgW="6084454" imgH="1004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60032" y="5531474"/>
                        <a:ext cx="4020356" cy="663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785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1187624" y="332656"/>
            <a:ext cx="19442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ru-RU" sz="900" b="1" dirty="0" smtClean="0">
                <a:latin typeface="Times New Roman" pitchFamily="18" charset="0"/>
                <a:cs typeface="Times New Roman" pitchFamily="18" charset="0"/>
              </a:rPr>
              <a:t>5. Карточка книги</a:t>
            </a:r>
            <a:endParaRPr lang="ru-RU" sz="900" dirty="0">
              <a:latin typeface="Times New Roman" pitchFamily="18" charset="0"/>
              <a:cs typeface="Times New Roman" pitchFamily="18" charset="0"/>
            </a:endParaRPr>
          </a:p>
          <a:p>
            <a:pPr marL="0" lvl="1"/>
            <a:r>
              <a:rPr lang="ru-RU" sz="900" dirty="0" smtClean="0">
                <a:latin typeface="Times New Roman" pitchFamily="18" charset="0"/>
                <a:cs typeface="Times New Roman" pitchFamily="18" charset="0"/>
              </a:rPr>
              <a:t>5.1 Детальная информация</a:t>
            </a:r>
            <a:endParaRPr lang="ru-RU" sz="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259632" y="2586070"/>
            <a:ext cx="2232248" cy="251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5000"/>
              </a:lnSpc>
              <a:spcAft>
                <a:spcPts val="0"/>
              </a:spcAft>
            </a:pPr>
            <a:r>
              <a:rPr lang="ru-RU" sz="900" b="1" dirty="0">
                <a:latin typeface="Times New Roman" pitchFamily="18" charset="0"/>
                <a:ea typeface="Calibri"/>
                <a:cs typeface="Times New Roman" pitchFamily="18" charset="0"/>
              </a:rPr>
              <a:t>6</a:t>
            </a:r>
            <a:r>
              <a:rPr lang="ru-RU" sz="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. Кросс-функциональные проверки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1259632" y="1628800"/>
            <a:ext cx="1503040" cy="238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900" dirty="0">
                <a:latin typeface="Times New Roman" pitchFamily="18" charset="0"/>
                <a:ea typeface="Calibri"/>
                <a:cs typeface="Times New Roman" pitchFamily="18" charset="0"/>
              </a:rPr>
              <a:t>5</a:t>
            </a:r>
            <a:r>
              <a:rPr lang="ru-RU" sz="900" dirty="0" smtClean="0">
                <a:latin typeface="Times New Roman" pitchFamily="18" charset="0"/>
                <a:ea typeface="Calibri"/>
                <a:cs typeface="Times New Roman" pitchFamily="18" charset="0"/>
              </a:rPr>
              <a:t>.2 Действия</a:t>
            </a:r>
            <a:endParaRPr lang="ru-RU" sz="900" dirty="0"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1259632" y="3471167"/>
            <a:ext cx="1840445" cy="238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5000"/>
              </a:lnSpc>
              <a:spcAft>
                <a:spcPts val="0"/>
              </a:spcAft>
            </a:pPr>
            <a:r>
              <a:rPr lang="ru-RU" sz="900" b="1" dirty="0" smtClean="0">
                <a:latin typeface="Times New Roman" pitchFamily="18" charset="0"/>
                <a:ea typeface="Calibri"/>
                <a:cs typeface="Times New Roman" pitchFamily="18" charset="0"/>
              </a:rPr>
              <a:t>7. </a:t>
            </a:r>
            <a:r>
              <a:rPr lang="ru-RU" sz="900" b="1" dirty="0" err="1" smtClean="0">
                <a:latin typeface="Times New Roman" pitchFamily="18" charset="0"/>
                <a:ea typeface="Calibri"/>
                <a:cs typeface="Times New Roman" pitchFamily="18" charset="0"/>
              </a:rPr>
              <a:t>Юзабилити</a:t>
            </a:r>
            <a:endParaRPr lang="ru-RU" sz="9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14229"/>
              </p:ext>
            </p:extLst>
          </p:nvPr>
        </p:nvGraphicFramePr>
        <p:xfrm>
          <a:off x="1043609" y="715072"/>
          <a:ext cx="3744416" cy="111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Document" r:id="rId3" imgW="6084454" imgH="1818065" progId="Word.Document.12">
                  <p:embed/>
                </p:oleObj>
              </mc:Choice>
              <mc:Fallback>
                <p:oleObj name="Document" r:id="rId3" imgW="6084454" imgH="18180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9" y="715072"/>
                        <a:ext cx="3744416" cy="111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763116"/>
              </p:ext>
            </p:extLst>
          </p:nvPr>
        </p:nvGraphicFramePr>
        <p:xfrm>
          <a:off x="1043608" y="1875352"/>
          <a:ext cx="3744416" cy="905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Document" r:id="rId5" imgW="6084454" imgH="1471733" progId="Word.Document.12">
                  <p:embed/>
                </p:oleObj>
              </mc:Choice>
              <mc:Fallback>
                <p:oleObj name="Document" r:id="rId5" imgW="6084454" imgH="14717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3608" y="1875352"/>
                        <a:ext cx="3744416" cy="905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004578"/>
              </p:ext>
            </p:extLst>
          </p:nvPr>
        </p:nvGraphicFramePr>
        <p:xfrm>
          <a:off x="1043609" y="2823517"/>
          <a:ext cx="3744415" cy="815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Document" r:id="rId7" imgW="6084454" imgH="1326288" progId="Word.Document.12">
                  <p:embed/>
                </p:oleObj>
              </mc:Choice>
              <mc:Fallback>
                <p:oleObj name="Document" r:id="rId7" imgW="6084454" imgH="13262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9" y="2823517"/>
                        <a:ext cx="3744415" cy="815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908153"/>
              </p:ext>
            </p:extLst>
          </p:nvPr>
        </p:nvGraphicFramePr>
        <p:xfrm>
          <a:off x="1043608" y="3710015"/>
          <a:ext cx="3734155" cy="1015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Document" r:id="rId9" imgW="6084454" imgH="1653899" progId="Word.Document.12">
                  <p:embed/>
                </p:oleObj>
              </mc:Choice>
              <mc:Fallback>
                <p:oleObj name="Document" r:id="rId9" imgW="6084454" imgH="16538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3608" y="3710015"/>
                        <a:ext cx="3734155" cy="10151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Прямоугольник 21"/>
          <p:cNvSpPr/>
          <p:nvPr/>
        </p:nvSpPr>
        <p:spPr>
          <a:xfrm>
            <a:off x="4932040" y="332222"/>
            <a:ext cx="19442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ru-RU" sz="900" b="1" dirty="0" smtClean="0">
                <a:latin typeface="Times New Roman" pitchFamily="18" charset="0"/>
                <a:cs typeface="Times New Roman" pitchFamily="18" charset="0"/>
              </a:rPr>
              <a:t>Итого по чек-листу:</a:t>
            </a:r>
            <a:endParaRPr lang="ru-RU" sz="9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751441"/>
              </p:ext>
            </p:extLst>
          </p:nvPr>
        </p:nvGraphicFramePr>
        <p:xfrm>
          <a:off x="4919554" y="701989"/>
          <a:ext cx="4027037" cy="1574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Document" r:id="rId11" imgW="6084454" imgH="2379685" progId="Word.Document.12">
                  <p:embed/>
                </p:oleObj>
              </mc:Choice>
              <mc:Fallback>
                <p:oleObj name="Document" r:id="rId11" imgW="6084454" imgH="23796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19554" y="701989"/>
                        <a:ext cx="4027037" cy="1574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297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/>
          <p:cNvSpPr txBox="1">
            <a:spLocks/>
          </p:cNvSpPr>
          <p:nvPr/>
        </p:nvSpPr>
        <p:spPr>
          <a:xfrm>
            <a:off x="1259632" y="19426"/>
            <a:ext cx="2160240" cy="457200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Тест-кейсы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491834"/>
              </p:ext>
            </p:extLst>
          </p:nvPr>
        </p:nvGraphicFramePr>
        <p:xfrm>
          <a:off x="1547664" y="354430"/>
          <a:ext cx="6768752" cy="6282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Worksheet" r:id="rId3" imgW="9934531" imgH="9220121" progId="Excel.Sheet.12">
                  <p:embed/>
                </p:oleObj>
              </mc:Choice>
              <mc:Fallback>
                <p:oleObj name="Worksheet" r:id="rId3" imgW="9934531" imgH="922012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354430"/>
                        <a:ext cx="6768752" cy="6282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41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195957"/>
              </p:ext>
            </p:extLst>
          </p:nvPr>
        </p:nvGraphicFramePr>
        <p:xfrm>
          <a:off x="1331640" y="260648"/>
          <a:ext cx="7163559" cy="547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Worksheet" r:id="rId3" imgW="11706447" imgH="8943857" progId="Excel.Sheet.12">
                  <p:embed/>
                </p:oleObj>
              </mc:Choice>
              <mc:Fallback>
                <p:oleObj name="Worksheet" r:id="rId3" imgW="11706447" imgH="89438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260648"/>
                        <a:ext cx="7163559" cy="5472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31640" y="6093296"/>
            <a:ext cx="4881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 тест-кейсам было проведено ручное тестирование сайта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6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/>
          <p:cNvSpPr txBox="1">
            <a:spLocks/>
          </p:cNvSpPr>
          <p:nvPr/>
        </p:nvSpPr>
        <p:spPr>
          <a:xfrm>
            <a:off x="1238204" y="260648"/>
            <a:ext cx="5544616" cy="4572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Автоматизированное тестирование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03647" y="726788"/>
            <a:ext cx="4505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Структура проекта автоматизированного тестирования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115616" y="1052103"/>
            <a:ext cx="3354046" cy="3323987"/>
          </a:xfrm>
          <a:prstGeom prst="rect">
            <a:avLst/>
          </a:prstGeom>
          <a:solidFill>
            <a:srgbClr val="191A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Litres-testing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/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│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README.md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/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pytest.ini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/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conftest.py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000" dirty="0">
                <a:solidFill>
                  <a:srgbClr val="6AAB73"/>
                </a:solidFill>
                <a:latin typeface="JetBrains Mono"/>
                <a:cs typeface="Arial" pitchFamily="34" charset="0"/>
              </a:rPr>
              <a:t>│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/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.</a:t>
            </a:r>
            <a:r>
              <a:rPr kumimoji="0" lang="en-US" sz="10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venv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/</a:t>
            </a:r>
            <a:endParaRPr kumimoji="0" lang="en-US" sz="1000" b="0" i="0" u="none" strike="noStrike" cap="none" normalizeH="0" baseline="0" dirty="0" smtClean="0">
              <a:ln>
                <a:noFill/>
              </a:ln>
              <a:solidFill>
                <a:srgbClr val="6AAB73"/>
              </a:solidFill>
              <a:effectLst/>
              <a:latin typeface="JetBrains Mono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ru-RU" sz="1000" dirty="0">
                <a:solidFill>
                  <a:srgbClr val="6AAB73"/>
                </a:solidFill>
                <a:latin typeface="JetBrains Mono"/>
                <a:cs typeface="Arial" pitchFamily="34" charset="0"/>
              </a:rPr>
              <a:t>│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/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├──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pages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/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│   ├── __init__.py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│   ├── base_page.py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│   ├── main_page.py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│   └──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se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a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rch_page.py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│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lang="ru-RU" sz="1000" dirty="0">
                <a:solidFill>
                  <a:srgbClr val="6AAB73"/>
                </a:solidFill>
                <a:latin typeface="JetBrains Mono"/>
                <a:cs typeface="Arial" pitchFamily="34" charset="0"/>
              </a:rPr>
              <a:t>└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──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tests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/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en-US" sz="1000" b="0" i="0" u="none" strike="noStrike" cap="none" normalizeH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  ├── __init__.py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en-US" sz="1000" b="0" i="0" u="none" strike="noStrike" cap="none" normalizeH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├── test_litres_search_Lukyanenko.py 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├── test_litres_search_more.py    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├── test_litres_search_audio.py    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├── test_litres_search_negative_symbol.py </a:t>
            </a:r>
            <a:b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</a:b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 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 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  <a:cs typeface="Arial" pitchFamily="34" charset="0"/>
              </a:rPr>
              <a:t>└── test_litres_search_negative_asdfghjkl123456.py        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6016" y="1052103"/>
            <a:ext cx="417646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Где:</a:t>
            </a:r>
          </a:p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README.md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описание проекта, инструкция по запуску.</a:t>
            </a:r>
          </a:p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pytest.ini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основной конфигурационный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файл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 для определения работы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pytest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умолчнию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conftest.py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– файл создания общих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фикстур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добавления хуков, вешних плагинов.</a:t>
            </a:r>
          </a:p>
          <a:p>
            <a:pPr lvl="0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base_page.py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файл, содержащий класс с основными функциями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автотеста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main_page.py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– файл, содержащий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локаторы элементов главной страницы сайта, функции </a:t>
            </a: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автотеста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search_page.py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– файл, содержащий локаторы элементов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иследуемой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страницы сайта, функции </a:t>
            </a:r>
            <a:r>
              <a:rPr lang="ru-RU" sz="1400" dirty="0" err="1">
                <a:latin typeface="Times New Roman" pitchFamily="18" charset="0"/>
                <a:cs typeface="Times New Roman" pitchFamily="18" charset="0"/>
              </a:rPr>
              <a:t>автотеста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115616" y="4714692"/>
            <a:ext cx="513150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Разработано 5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автотестов</a:t>
            </a:r>
            <a:r>
              <a:rPr kumimoji="0" lang="ru-RU" sz="14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с использованием:</a:t>
            </a:r>
            <a:endParaRPr kumimoji="0" lang="ru-RU" sz="1400" b="1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Python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3.8+ — язык программирования</a:t>
            </a:r>
            <a:endParaRPr kumimoji="0" lang="ru-RU" sz="14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Selenium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WebDriver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—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фреймворк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для автоматизации браузера</a:t>
            </a:r>
            <a:endParaRPr kumimoji="0" lang="ru-RU" sz="14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PyTest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— тестовый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фреймворк</a:t>
            </a:r>
            <a:endParaRPr kumimoji="0" lang="ru-RU" sz="14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Page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Object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Model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— паттерн проектирования</a:t>
            </a:r>
            <a:endParaRPr kumimoji="0" lang="ru-RU" sz="14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3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24556"/>
              </p:ext>
            </p:extLst>
          </p:nvPr>
        </p:nvGraphicFramePr>
        <p:xfrm>
          <a:off x="1259632" y="188640"/>
          <a:ext cx="7560841" cy="29969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146"/>
                <a:gridCol w="2150124"/>
                <a:gridCol w="2700300"/>
                <a:gridCol w="2430271"/>
              </a:tblGrid>
              <a:tr h="1632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№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Файл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Название теста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Описание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452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</a:rPr>
                        <a:t>test_litres_search_Lukyanenko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test_search_lukyanenko_in_popular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</a:rPr>
                        <a:t>Позитивный тест </a:t>
                      </a:r>
                      <a:r>
                        <a:rPr lang="ru-RU" sz="1000" dirty="0">
                          <a:effectLst/>
                        </a:rPr>
                        <a:t>предназначен для получения списка книг автора Лукьяненко в разделе Популярное на </a:t>
                      </a:r>
                      <a:r>
                        <a:rPr lang="en-US" sz="1000" dirty="0" err="1">
                          <a:effectLst/>
                        </a:rPr>
                        <a:t>Litres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452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</a:rPr>
                        <a:t>test_litres_search_audio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err="1" smtClean="0">
                          <a:effectLst/>
                        </a:rPr>
                        <a:t>test_search_audio_in_popular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Позитивный тест предназначен для получения списка аудиокниг в разделе Популярное на </a:t>
                      </a:r>
                      <a:r>
                        <a:rPr lang="en-US" sz="1000" dirty="0" err="1" smtClean="0">
                          <a:effectLst/>
                        </a:rPr>
                        <a:t>Litres</a:t>
                      </a:r>
                      <a:endParaRPr lang="ru-RU" sz="10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452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+mn-lt"/>
                        </a:rPr>
                        <a:t> </a:t>
                      </a:r>
                      <a:r>
                        <a:rPr lang="en-US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test_lites_sarch_more</a:t>
                      </a:r>
                      <a:endParaRPr lang="ru-RU" sz="1000" b="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err="1" smtClean="0">
                          <a:effectLst/>
                        </a:rPr>
                        <a:t>test_search_more_in_popular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Позитивный тест предназначен для увеличения списка книг по кнопке «Показать еще»</a:t>
                      </a:r>
                      <a:endParaRPr lang="ru-RU" sz="10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452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test_lites_sarch_</a:t>
                      </a:r>
                      <a:r>
                        <a:rPr lang="en-US" sz="1000" dirty="0" err="1" smtClean="0">
                          <a:effectLst/>
                        </a:rPr>
                        <a:t>negative_symbol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err="1" smtClean="0">
                          <a:effectLst/>
                        </a:rPr>
                        <a:t>test_search_negative_symbol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Негативный тест при </a:t>
                      </a:r>
                      <a:r>
                        <a:rPr lang="ru-RU" sz="10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обработке спецсимволов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452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test_lites_sarch_</a:t>
                      </a:r>
                      <a:r>
                        <a:rPr lang="en-US" sz="1000" dirty="0" err="1" smtClean="0">
                          <a:effectLst/>
                        </a:rPr>
                        <a:t>negative</a:t>
                      </a:r>
                      <a:r>
                        <a:rPr lang="en-US" sz="1000" dirty="0" smtClean="0">
                          <a:effectLst/>
                        </a:rPr>
                        <a:t>_</a:t>
                      </a:r>
                      <a:endParaRPr lang="ru-RU" sz="1000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asdfghjkl123456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en-US" sz="1000" dirty="0" smtClean="0">
                          <a:effectLst/>
                        </a:rPr>
                        <a:t>test_search_negative_</a:t>
                      </a: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asdfghjkl123456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r>
                        <a:rPr lang="ru-RU" sz="1000" dirty="0" smtClean="0">
                          <a:effectLst/>
                        </a:rPr>
                        <a:t>Негативный тест </a:t>
                      </a:r>
                      <a:r>
                        <a:rPr lang="ru-RU" sz="10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обработке несуществующего запроса</a:t>
                      </a:r>
                    </a:p>
                    <a:p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536142"/>
              </p:ext>
            </p:extLst>
          </p:nvPr>
        </p:nvGraphicFramePr>
        <p:xfrm>
          <a:off x="1259632" y="3668992"/>
          <a:ext cx="7560840" cy="963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6978"/>
                <a:gridCol w="1903837"/>
                <a:gridCol w="3780025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Компонент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Версия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Примечание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Python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3.8+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Необходим для запуска автотестов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Google Chrome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120+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Для запуска тестов в Chrome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Mozilla Firefox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120+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Для запуска тестов в Firefox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Git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Любая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effectLst/>
                        </a:rPr>
                        <a:t>Для </a:t>
                      </a:r>
                      <a:r>
                        <a:rPr lang="ru-RU" sz="1100" dirty="0">
                          <a:effectLst/>
                        </a:rPr>
                        <a:t>клонирования </a:t>
                      </a:r>
                      <a:r>
                        <a:rPr lang="ru-RU" sz="1100" dirty="0" err="1">
                          <a:effectLst/>
                        </a:rPr>
                        <a:t>репозитория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331640" y="3356992"/>
            <a:ext cx="2632793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Программное обеспечение</a:t>
            </a:r>
            <a:endParaRPr kumimoji="0" lang="ru-RU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31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/>
          <p:cNvSpPr txBox="1">
            <a:spLocks/>
          </p:cNvSpPr>
          <p:nvPr/>
        </p:nvSpPr>
        <p:spPr>
          <a:xfrm>
            <a:off x="1238204" y="260648"/>
            <a:ext cx="7654276" cy="4572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Результаты автоматизированного тестирования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8204" y="735627"/>
            <a:ext cx="707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test_search_lukyanenko_in_popular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100% прохождение теста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278052"/>
            <a:ext cx="5616624" cy="2919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24" y="3573016"/>
            <a:ext cx="5378888" cy="28351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16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72824" y="44624"/>
            <a:ext cx="7078212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test_search_audio_in_popular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100% прохождение теста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5" y="435308"/>
            <a:ext cx="5456855" cy="2876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8918" y="3284984"/>
            <a:ext cx="7078212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test_search_more_in_popular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100% прохождение теста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4" y="3695867"/>
            <a:ext cx="5456855" cy="288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1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72824" y="44624"/>
            <a:ext cx="7078212" cy="38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test_search_negative_symbol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100% прохождение теста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8918" y="3284984"/>
            <a:ext cx="7078212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test_search_negative_</a:t>
            </a:r>
            <a:r>
              <a:rPr lang="en-US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asdfghjkl123456</a:t>
            </a:r>
            <a:r>
              <a:rPr lang="ru-RU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100% прохождение теста</a:t>
            </a:r>
            <a:endParaRPr lang="ru-RU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23" y="431153"/>
            <a:ext cx="5823917" cy="285781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505" y="3634219"/>
            <a:ext cx="5796136" cy="304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2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853643"/>
              </p:ext>
            </p:extLst>
          </p:nvPr>
        </p:nvGraphicFramePr>
        <p:xfrm>
          <a:off x="1259631" y="657562"/>
          <a:ext cx="7629495" cy="2339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4349"/>
                <a:gridCol w="3815146"/>
              </a:tblGrid>
              <a:tr h="3341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dirty="0">
                          <a:effectLst/>
                        </a:rPr>
                        <a:t>ПОКАЗАТЕЛЬ</a:t>
                      </a:r>
                      <a:endParaRPr lang="ru-R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ЗНАЧЕНИЕ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34199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Всего проверок(чек лист)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39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34199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Успешно пройдено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39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34199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Провалено/Найдено багов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34199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dirty="0">
                          <a:effectLst/>
                        </a:rPr>
                        <a:t>Критических багов</a:t>
                      </a:r>
                      <a:endParaRPr lang="ru-R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0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34199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Автотестов разработано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5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34199">
                <a:tc>
                  <a:txBody>
                    <a:bodyPr/>
                    <a:lstStyle/>
                    <a:p>
                      <a:pPr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>
                          <a:effectLst/>
                        </a:rPr>
                        <a:t>Процент прохождения атотестов</a:t>
                      </a:r>
                      <a:endParaRPr lang="ru-RU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600" dirty="0">
                          <a:effectLst/>
                        </a:rPr>
                        <a:t>100%</a:t>
                      </a:r>
                      <a:endParaRPr lang="ru-RU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69463" y="3356992"/>
            <a:ext cx="7351009" cy="2523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Основные выводы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4F81BD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Поиск и фильтрация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работают корректно.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Кросс-</a:t>
            </a: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браузерная</a:t>
            </a: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совместимость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Основная функциональность работает во всех браузерах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Юзабилити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81025" algn="l"/>
                <a:tab pos="914400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Интерфейс интуитивно понятен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7392" y="185618"/>
            <a:ext cx="2143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Общая статистика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049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5364088" y="386433"/>
            <a:ext cx="3354046" cy="6247864"/>
          </a:xfrm>
          <a:prstGeom prst="rect">
            <a:avLst/>
          </a:prstGeom>
          <a:solidFill>
            <a:srgbClr val="191A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err="1">
                <a:solidFill>
                  <a:srgbClr val="50B452"/>
                </a:solidFill>
              </a:rPr>
              <a:t>Litres</a:t>
            </a:r>
            <a:r>
              <a:rPr lang="en-US" sz="1000" dirty="0">
                <a:solidFill>
                  <a:srgbClr val="50B452"/>
                </a:solidFill>
              </a:rPr>
              <a:t>-testing/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</a:t>
            </a:r>
            <a:r>
              <a:rPr lang="en-US" sz="1000" dirty="0" err="1">
                <a:solidFill>
                  <a:srgbClr val="50B452"/>
                </a:solidFill>
              </a:rPr>
              <a:t>venv</a:t>
            </a:r>
            <a:r>
              <a:rPr lang="en-US" sz="1000" dirty="0">
                <a:solidFill>
                  <a:srgbClr val="50B452"/>
                </a:solidFill>
              </a:rPr>
              <a:t>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</a:t>
            </a:r>
            <a:r>
              <a:rPr lang="en-US" sz="1000" dirty="0" err="1">
                <a:solidFill>
                  <a:srgbClr val="50B452"/>
                </a:solidFill>
              </a:rPr>
              <a:t>allure_result</a:t>
            </a:r>
            <a:r>
              <a:rPr lang="en-US" sz="1000" dirty="0">
                <a:solidFill>
                  <a:srgbClr val="50B452"/>
                </a:solidFill>
              </a:rPr>
              <a:t>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|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</a:t>
            </a:r>
            <a:r>
              <a:rPr lang="en-US" sz="1000" dirty="0" err="1">
                <a:solidFill>
                  <a:srgbClr val="50B452"/>
                </a:solidFill>
              </a:rPr>
              <a:t>MindMap</a:t>
            </a:r>
            <a:r>
              <a:rPr lang="en-US" sz="1000" dirty="0">
                <a:solidFill>
                  <a:srgbClr val="50B452"/>
                </a:solidFill>
              </a:rPr>
              <a:t>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└── MindMap_Litres.jpg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test-plan/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└── TestPlan_Litres.pdf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checklist/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└── ChecList_Litres.pdf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test-cases/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└── TestCases_Litres.pdf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</a:t>
            </a:r>
            <a:r>
              <a:rPr lang="en-US" sz="1000" dirty="0" err="1">
                <a:solidFill>
                  <a:srgbClr val="50B452"/>
                </a:solidFill>
              </a:rPr>
              <a:t>skrin</a:t>
            </a:r>
            <a:r>
              <a:rPr lang="en-US" sz="1000" dirty="0">
                <a:solidFill>
                  <a:srgbClr val="50B452"/>
                </a:solidFill>
              </a:rPr>
              <a:t>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pages/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__init__.py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base_page.py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main_page.py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└── search_page.py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tests/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__init__.py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test_litres_search_Lukyanenko.py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test_litres_search_more.py   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test_litres_search_audio.py   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├── test_litres_search_negative_symbol.py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   └── test_litres_search_negative_asdfghjkl123456.py        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├── README.md (</a:t>
            </a:r>
            <a:r>
              <a:rPr lang="ru-RU" sz="1000" dirty="0">
                <a:solidFill>
                  <a:srgbClr val="50B452"/>
                </a:solidFill>
              </a:rPr>
              <a:t>Инструкция по запуску </a:t>
            </a:r>
            <a:r>
              <a:rPr lang="ru-RU" sz="1000" dirty="0" err="1">
                <a:solidFill>
                  <a:srgbClr val="50B452"/>
                </a:solidFill>
              </a:rPr>
              <a:t>автотестов</a:t>
            </a:r>
            <a:r>
              <a:rPr lang="ru-RU" sz="1000" dirty="0">
                <a:solidFill>
                  <a:srgbClr val="50B452"/>
                </a:solidFill>
              </a:rPr>
              <a:t>)</a:t>
            </a:r>
            <a:br>
              <a:rPr lang="ru-RU" sz="1000" dirty="0">
                <a:solidFill>
                  <a:srgbClr val="50B452"/>
                </a:solidFill>
              </a:rPr>
            </a:br>
            <a:r>
              <a:rPr lang="ru-RU" sz="1000" dirty="0">
                <a:solidFill>
                  <a:srgbClr val="50B452"/>
                </a:solidFill>
              </a:rPr>
              <a:t>│</a:t>
            </a:r>
            <a:br>
              <a:rPr lang="ru-RU" sz="1000" dirty="0">
                <a:solidFill>
                  <a:srgbClr val="50B452"/>
                </a:solidFill>
              </a:rPr>
            </a:br>
            <a:r>
              <a:rPr lang="ru-RU" sz="1000" dirty="0">
                <a:solidFill>
                  <a:srgbClr val="50B452"/>
                </a:solidFill>
              </a:rPr>
              <a:t>├── </a:t>
            </a:r>
            <a:r>
              <a:rPr lang="en-US" sz="1000" dirty="0">
                <a:solidFill>
                  <a:srgbClr val="50B452"/>
                </a:solidFill>
              </a:rPr>
              <a:t>pytest.ini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│</a:t>
            </a:r>
            <a:br>
              <a:rPr lang="en-US" sz="1000" dirty="0">
                <a:solidFill>
                  <a:srgbClr val="50B452"/>
                </a:solidFill>
              </a:rPr>
            </a:br>
            <a:r>
              <a:rPr lang="en-US" sz="1000" dirty="0">
                <a:solidFill>
                  <a:srgbClr val="50B452"/>
                </a:solidFill>
              </a:rPr>
              <a:t>└── conftest.py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50B452"/>
                </a:solidFill>
                <a:effectLst/>
                <a:latin typeface="JetBrains Mono"/>
                <a:cs typeface="Arial" pitchFamily="34" charset="0"/>
              </a:rPr>
              <a:t>        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rgbClr val="50B452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04046" y="585554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Окончательная структура проекта выглядит следующим образом: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683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3688" y="2492896"/>
            <a:ext cx="6552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501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796</TotalTime>
  <Words>567</Words>
  <Application>Microsoft Office PowerPoint</Application>
  <PresentationFormat>Экран (4:3)</PresentationFormat>
  <Paragraphs>180</Paragraphs>
  <Slides>18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Солнцестояние</vt:lpstr>
      <vt:lpstr>Document</vt:lpstr>
      <vt:lpstr>Worksheet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Работа: Тестирование раздела "Популярное" на Litres.ru</dc:title>
  <dc:creator>Ваньков Дмитрий Петрович</dc:creator>
  <cp:lastModifiedBy>Дмитрий</cp:lastModifiedBy>
  <cp:revision>54</cp:revision>
  <dcterms:created xsi:type="dcterms:W3CDTF">2026-03-31T05:50:10Z</dcterms:created>
  <dcterms:modified xsi:type="dcterms:W3CDTF">2026-04-05T16:49:23Z</dcterms:modified>
</cp:coreProperties>
</file>