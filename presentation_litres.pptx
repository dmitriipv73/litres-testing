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docx" ContentType="application/vnd.openxmlformats-officedocument.wordprocessingml.document"/>
  <Default Extension="vml" ContentType="application/vnd.openxmlformats-officedocument.vmlDrawing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0" r:id="rId1"/>
  </p:sldMasterIdLst>
  <p:sldIdLst>
    <p:sldId id="256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8" r:id="rId19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B452"/>
    <a:srgbClr val="449E46"/>
    <a:srgbClr val="2DB52D"/>
    <a:srgbClr val="33CC33"/>
    <a:srgbClr val="339933"/>
    <a:srgbClr val="009900"/>
    <a:srgbClr val="339966"/>
    <a:srgbClr val="46A131"/>
    <a:srgbClr val="22963E"/>
    <a:srgbClr val="39D3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Светлый стиль 1 -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1" autoAdjust="0"/>
    <p:restoredTop sz="94653" autoAdjust="0"/>
  </p:normalViewPr>
  <p:slideViewPr>
    <p:cSldViewPr>
      <p:cViewPr>
        <p:scale>
          <a:sx n="100" d="100"/>
          <a:sy n="100" d="100"/>
        </p:scale>
        <p:origin x="-1944" y="-3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7" Type="http://schemas.openxmlformats.org/officeDocument/2006/relationships/image" Target="../media/image14.emf"/><Relationship Id="rId2" Type="http://schemas.openxmlformats.org/officeDocument/2006/relationships/image" Target="../media/image9.emf"/><Relationship Id="rId1" Type="http://schemas.openxmlformats.org/officeDocument/2006/relationships/image" Target="../media/image8.emf"/><Relationship Id="rId6" Type="http://schemas.openxmlformats.org/officeDocument/2006/relationships/image" Target="../media/image13.emf"/><Relationship Id="rId5" Type="http://schemas.openxmlformats.org/officeDocument/2006/relationships/image" Target="../media/image12.emf"/><Relationship Id="rId4" Type="http://schemas.openxmlformats.org/officeDocument/2006/relationships/image" Target="../media/image11.e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emf"/><Relationship Id="rId1" Type="http://schemas.openxmlformats.org/officeDocument/2006/relationships/image" Target="../media/image15.emf"/><Relationship Id="rId5" Type="http://schemas.openxmlformats.org/officeDocument/2006/relationships/image" Target="../media/image19.emf"/><Relationship Id="rId4" Type="http://schemas.openxmlformats.org/officeDocument/2006/relationships/image" Target="../media/image18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1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2" name="Подзаголовок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AAF16A9-B34B-4F3D-838F-352F13BB605C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20" name="Нижний колонтитул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7B09AB1-4A26-459F-A9F4-F23F54D5F03D}" type="slidenum">
              <a:rPr lang="ru-RU" smtClean="0"/>
              <a:t>‹#›</a:t>
            </a:fld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AAF16A9-B34B-4F3D-838F-352F13BB605C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7B09AB1-4A26-459F-A9F4-F23F54D5F03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AAF16A9-B34B-4F3D-838F-352F13BB605C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7B09AB1-4A26-459F-A9F4-F23F54D5F03D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AAF16A9-B34B-4F3D-838F-352F13BB605C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7B09AB1-4A26-459F-A9F4-F23F54D5F03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AAF16A9-B34B-4F3D-838F-352F13BB605C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7B09AB1-4A26-459F-A9F4-F23F54D5F03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AAF16A9-B34B-4F3D-838F-352F13BB605C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7B09AB1-4A26-459F-A9F4-F23F54D5F03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AAF16A9-B34B-4F3D-838F-352F13BB605C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7B09AB1-4A26-459F-A9F4-F23F54D5F03D}" type="slidenum">
              <a:rPr lang="ru-RU" smtClean="0"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AAF16A9-B34B-4F3D-838F-352F13BB605C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7B09AB1-4A26-459F-A9F4-F23F54D5F03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AAF16A9-B34B-4F3D-838F-352F13BB605C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7B09AB1-4A26-459F-A9F4-F23F54D5F03D}" type="slidenum">
              <a:rPr lang="ru-RU" smtClean="0"/>
              <a:t>‹#›</a:t>
            </a:fld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9" name="Блок-схема: процесс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Блок-схема: процесс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AAF16A9-B34B-4F3D-838F-352F13BB605C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7B09AB1-4A26-459F-A9F4-F23F54D5F03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CAAF16A9-B34B-4F3D-838F-352F13BB605C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C7B09AB1-4A26-459F-A9F4-F23F54D5F03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ирог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Кольцо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Текст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4" name="Дата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CAAF16A9-B34B-4F3D-838F-352F13BB605C}" type="datetimeFigureOut">
              <a:rPr lang="ru-RU" smtClean="0"/>
              <a:t>11.04.2026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ru-RU"/>
          </a:p>
        </p:txBody>
      </p:sp>
      <p:sp>
        <p:nvSpPr>
          <p:cNvPr id="22" name="Номер слайда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C7B09AB1-4A26-459F-A9F4-F23F54D5F03D}" type="slidenum">
              <a:rPr lang="ru-RU" smtClean="0"/>
              <a:t>‹#›</a:t>
            </a:fld>
            <a:endParaRPr lang="ru-RU"/>
          </a:p>
        </p:txBody>
      </p:sp>
      <p:sp>
        <p:nvSpPr>
          <p:cNvPr id="15" name="Прямоугольник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13" Type="http://schemas.openxmlformats.org/officeDocument/2006/relationships/package" Target="../embeddings/Microsoft_Word_Document6.docx"/><Relationship Id="rId3" Type="http://schemas.openxmlformats.org/officeDocument/2006/relationships/package" Target="../embeddings/Microsoft_Word_Document1.docx"/><Relationship Id="rId7" Type="http://schemas.openxmlformats.org/officeDocument/2006/relationships/package" Target="../embeddings/Microsoft_Word_Document3.docx"/><Relationship Id="rId12" Type="http://schemas.openxmlformats.org/officeDocument/2006/relationships/image" Target="../media/image12.emf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14.emf"/><Relationship Id="rId1" Type="http://schemas.openxmlformats.org/officeDocument/2006/relationships/vmlDrawing" Target="../drawings/vmlDrawing1.vml"/><Relationship Id="rId6" Type="http://schemas.openxmlformats.org/officeDocument/2006/relationships/image" Target="../media/image9.emf"/><Relationship Id="rId11" Type="http://schemas.openxmlformats.org/officeDocument/2006/relationships/package" Target="../embeddings/Microsoft_Word_Document5.docx"/><Relationship Id="rId5" Type="http://schemas.openxmlformats.org/officeDocument/2006/relationships/package" Target="../embeddings/Microsoft_Word_Document2.docx"/><Relationship Id="rId15" Type="http://schemas.openxmlformats.org/officeDocument/2006/relationships/package" Target="../embeddings/Microsoft_Word_Document7.docx"/><Relationship Id="rId10" Type="http://schemas.openxmlformats.org/officeDocument/2006/relationships/image" Target="../media/image11.emf"/><Relationship Id="rId4" Type="http://schemas.openxmlformats.org/officeDocument/2006/relationships/image" Target="../media/image8.emf"/><Relationship Id="rId9" Type="http://schemas.openxmlformats.org/officeDocument/2006/relationships/package" Target="../embeddings/Microsoft_Word_Document4.docx"/><Relationship Id="rId14" Type="http://schemas.openxmlformats.org/officeDocument/2006/relationships/image" Target="../media/image13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emf"/><Relationship Id="rId3" Type="http://schemas.openxmlformats.org/officeDocument/2006/relationships/package" Target="../embeddings/Microsoft_Word_Document8.docx"/><Relationship Id="rId7" Type="http://schemas.openxmlformats.org/officeDocument/2006/relationships/package" Target="../embeddings/Microsoft_Word_Document10.docx"/><Relationship Id="rId12" Type="http://schemas.openxmlformats.org/officeDocument/2006/relationships/image" Target="../media/image19.emf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16.emf"/><Relationship Id="rId11" Type="http://schemas.openxmlformats.org/officeDocument/2006/relationships/package" Target="../embeddings/Microsoft_Word_Document12.docx"/><Relationship Id="rId5" Type="http://schemas.openxmlformats.org/officeDocument/2006/relationships/package" Target="../embeddings/Microsoft_Word_Document9.docx"/><Relationship Id="rId10" Type="http://schemas.openxmlformats.org/officeDocument/2006/relationships/image" Target="../media/image18.emf"/><Relationship Id="rId4" Type="http://schemas.openxmlformats.org/officeDocument/2006/relationships/image" Target="../media/image15.emf"/><Relationship Id="rId9" Type="http://schemas.openxmlformats.org/officeDocument/2006/relationships/package" Target="../embeddings/Microsoft_Word_Document11.docx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20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4.vml"/><Relationship Id="rId4" Type="http://schemas.openxmlformats.org/officeDocument/2006/relationships/image" Target="../media/image21.emf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1444744" y="2348880"/>
            <a:ext cx="7406640" cy="936104"/>
          </a:xfrm>
        </p:spPr>
        <p:txBody>
          <a:bodyPr>
            <a:normAutofit fontScale="92500"/>
          </a:bodyPr>
          <a:lstStyle/>
          <a:p>
            <a:pPr algn="ctr"/>
            <a:r>
              <a:rPr lang="ru-RU" sz="2800" b="1" dirty="0" smtClean="0">
                <a:latin typeface="Times New Roman" pitchFamily="18" charset="0"/>
                <a:cs typeface="Times New Roman" pitchFamily="18" charset="0"/>
              </a:rPr>
              <a:t>Дипломная работа</a:t>
            </a:r>
          </a:p>
          <a:p>
            <a:pPr algn="ctr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b="1" dirty="0">
                <a:latin typeface="Times New Roman" pitchFamily="18" charset="0"/>
                <a:cs typeface="Times New Roman" pitchFamily="18" charset="0"/>
              </a:rPr>
              <a:t>Тестирование раздела "Популярное"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сайта </a:t>
            </a:r>
            <a:r>
              <a:rPr lang="en-US" sz="2400" b="1" dirty="0" err="1">
                <a:latin typeface="Times New Roman" pitchFamily="18" charset="0"/>
                <a:cs typeface="Times New Roman" pitchFamily="18" charset="0"/>
              </a:rPr>
              <a:t>Litres</a:t>
            </a:r>
            <a:r>
              <a:rPr lang="ru-RU" sz="2400" b="1" dirty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ru</a:t>
            </a:r>
            <a:endParaRPr lang="ru-RU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03648" y="476672"/>
            <a:ext cx="7488832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200" dirty="0">
                <a:latin typeface="Times New Roman" pitchFamily="18" charset="0"/>
                <a:cs typeface="Times New Roman" pitchFamily="18" charset="0"/>
              </a:rPr>
              <a:t>АВТОНОМНАЯ НЕКОММЕРЧЕСКАЯ 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ОРГАНИЗАЦИЯ 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ДОПОЛНИТЕЛЬНОГО ПРОФЕСИНОАЛЬНГО ОБРАЗОВАНИЯ</a:t>
            </a: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«АКАДЕМИЯ ТОП»</a:t>
            </a:r>
          </a:p>
          <a:p>
            <a:pPr algn="ctr"/>
            <a:endParaRPr lang="ru-RU" sz="1200" dirty="0">
              <a:latin typeface="Times New Roman" pitchFamily="18" charset="0"/>
              <a:cs typeface="Times New Roman" pitchFamily="18" charset="0"/>
            </a:endParaRPr>
          </a:p>
          <a:p>
            <a:pPr algn="ctr"/>
            <a:endParaRPr lang="ru-RU" sz="1200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ПРОГРАММА «ТЕСТИРОВАНИЕ ПО»</a:t>
            </a:r>
          </a:p>
          <a:p>
            <a:pPr algn="ctr"/>
            <a:endParaRPr lang="en-US" sz="1200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ГРУППА </a:t>
            </a:r>
            <a:r>
              <a:rPr lang="en-US" sz="1200" dirty="0" smtClean="0">
                <a:latin typeface="Times New Roman" pitchFamily="18" charset="0"/>
                <a:cs typeface="Times New Roman" pitchFamily="18" charset="0"/>
              </a:rPr>
              <a:t>QA51</a:t>
            </a:r>
            <a:endParaRPr lang="ru-RU" sz="1200" dirty="0">
              <a:latin typeface="Times New Roman" pitchFamily="18" charset="0"/>
              <a:cs typeface="Times New Roman" pitchFamily="18" charset="0"/>
            </a:endParaRPr>
          </a:p>
          <a:p>
            <a:pPr algn="ctr"/>
            <a:endParaRPr lang="ru-RU" sz="1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6056" y="4221088"/>
            <a:ext cx="3600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Студент: Ваньков Дмитрий Петрович</a:t>
            </a:r>
          </a:p>
          <a:p>
            <a:endParaRPr lang="ru-RU" sz="12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Преподаватель: </a:t>
            </a:r>
            <a:r>
              <a:rPr lang="ru-RU" sz="1200" dirty="0" err="1" smtClean="0">
                <a:latin typeface="Times New Roman" pitchFamily="18" charset="0"/>
                <a:cs typeface="Times New Roman" pitchFamily="18" charset="0"/>
              </a:rPr>
              <a:t>Шабунин</a:t>
            </a:r>
            <a:r>
              <a:rPr lang="ru-RU" sz="1200" dirty="0" smtClean="0">
                <a:latin typeface="Times New Roman" pitchFamily="18" charset="0"/>
                <a:cs typeface="Times New Roman" pitchFamily="18" charset="0"/>
              </a:rPr>
              <a:t> Петр Юрьевич</a:t>
            </a:r>
            <a:endParaRPr lang="ru-RU" sz="1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01446" y="6021288"/>
            <a:ext cx="11521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000" dirty="0" smtClean="0">
                <a:latin typeface="Times New Roman" pitchFamily="18" charset="0"/>
                <a:cs typeface="Times New Roman" pitchFamily="18" charset="0"/>
              </a:rPr>
              <a:t>2026</a:t>
            </a:r>
            <a:endParaRPr lang="ru-RU" sz="10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281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59632" y="548680"/>
            <a:ext cx="3816424" cy="457200"/>
          </a:xfrm>
        </p:spPr>
        <p:txBody>
          <a:bodyPr>
            <a:normAutofit/>
          </a:bodyPr>
          <a:lstStyle/>
          <a:p>
            <a:r>
              <a:rPr lang="ru-RU" sz="2400" b="1" dirty="0">
                <a:latin typeface="Times New Roman" pitchFamily="18" charset="0"/>
                <a:cs typeface="Times New Roman" pitchFamily="18" charset="0"/>
              </a:rPr>
              <a:t>Цель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дипломной работы: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92265" y="1340768"/>
            <a:ext cx="69847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6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 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На базе существующего веб-приложения (веб-сайта) продемонстрировать полученные  знания в области тестирования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59577" y="3212976"/>
            <a:ext cx="683861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Подобрать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веб-приложение.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Провести 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тестирование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функциональное, кросс-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браузерное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юзабилити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UI –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автоматизацию включая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358775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ручное 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тестирование (составление тест-плана, чек-листа, тест-кейсов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);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  <a:p>
            <a:pPr marL="358775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автоматизированное 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тестирование (написание </a:t>
            </a:r>
            <a:r>
              <a:rPr lang="ru-RU" sz="2000" dirty="0" err="1">
                <a:latin typeface="Times New Roman" pitchFamily="18" charset="0"/>
                <a:cs typeface="Times New Roman" pitchFamily="18" charset="0"/>
              </a:rPr>
              <a:t>автотестов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);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  <a:p>
            <a:pPr marL="358775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документирование 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найденных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дефектов.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  <a:p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1383109" y="2567612"/>
            <a:ext cx="1363861" cy="457200"/>
          </a:xfrm>
          <a:prstGeom prst="rect">
            <a:avLst/>
          </a:prstGeom>
        </p:spPr>
        <p:txBody>
          <a:bodyPr tIns="0">
            <a:normAutofit/>
          </a:bodyPr>
          <a:lstStyle>
            <a:lvl1pPr marL="27432" indent="0" algn="l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  <a:defRPr kumimoji="0" sz="2600" kern="1200">
                <a:solidFill>
                  <a:schemeClr val="tx2">
                    <a:shade val="30000"/>
                    <a:satMod val="1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1" latinLnBrk="0" hangingPunct="1">
              <a:lnSpc>
                <a:spcPct val="100000"/>
              </a:lnSpc>
              <a:spcBef>
                <a:spcPts val="550"/>
              </a:spcBef>
              <a:buClr>
                <a:schemeClr val="accent1"/>
              </a:buClr>
              <a:buFont typeface="Verdana"/>
              <a:buNone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2"/>
              </a:buClr>
              <a:buFont typeface="Wingdings 2"/>
              <a:buNone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3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4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5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Задача: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9083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F:\МОИ ДОКУМЕНТЫ\IT\ДИПЛОМ\Test_Litres\Litres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8777" y="586513"/>
            <a:ext cx="7560840" cy="2266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1328777" y="94555"/>
            <a:ext cx="75608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b="1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качестве объекта тестирования выбран раздел «Популярное» на сайте </a:t>
            </a:r>
            <a:r>
              <a:rPr lang="en-US" sz="1400" b="1" dirty="0" err="1">
                <a:latin typeface="Times New Roman" pitchFamily="18" charset="0"/>
                <a:cs typeface="Times New Roman" pitchFamily="18" charset="0"/>
              </a:rPr>
              <a:t>Litres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en-US" sz="1400" b="1" dirty="0" err="1">
                <a:latin typeface="Times New Roman" pitchFamily="18" charset="0"/>
                <a:cs typeface="Times New Roman" pitchFamily="18" charset="0"/>
              </a:rPr>
              <a:t>ru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ctr"/>
            <a:endParaRPr lang="ru-RU" sz="1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1390953" y="1737151"/>
            <a:ext cx="7498664" cy="4932209"/>
          </a:xfrm>
          <a:prstGeom prst="roundRect">
            <a:avLst>
              <a:gd name="adj" fmla="val 2279"/>
            </a:avLst>
          </a:prstGeom>
          <a:solidFill>
            <a:schemeClr val="bg2">
              <a:alpha val="4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fontAlgn="t"/>
            <a:r>
              <a:rPr lang="ru-RU" sz="1400" b="1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Тест План</a:t>
            </a:r>
            <a:endParaRPr lang="ru-RU" sz="1400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  <a:p>
            <a:pPr algn="ctr" fontAlgn="t"/>
            <a:r>
              <a:rPr lang="ru-RU" sz="1400" b="1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Тестирование функциональности поиска и фильтрации предложений в разделе "Популярное" на сайте </a:t>
            </a:r>
            <a:r>
              <a:rPr lang="en-US" sz="1400" b="1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Litres</a:t>
            </a:r>
            <a:r>
              <a:rPr lang="ru-RU" sz="1400" b="1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.</a:t>
            </a:r>
            <a:r>
              <a:rPr lang="ru-RU" sz="1400" b="1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ru</a:t>
            </a:r>
            <a:r>
              <a:rPr lang="ru-RU" sz="1400" b="1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1400" b="1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</a:br>
            <a:endParaRPr lang="ru-RU" sz="1400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  <a:p>
            <a:pPr lvl="0" fontAlgn="t"/>
            <a:r>
              <a:rPr lang="en-US" sz="1400" b="1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  </a:t>
            </a:r>
            <a:r>
              <a:rPr lang="ru-RU" sz="1400" b="1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Введение.</a:t>
            </a:r>
          </a:p>
          <a:p>
            <a:pPr lvl="0" fontAlgn="t"/>
            <a:r>
              <a:rPr lang="ru-RU" sz="1400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Сайт </a:t>
            </a:r>
            <a:r>
              <a:rPr lang="en-US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Litres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.</a:t>
            </a:r>
            <a:r>
              <a:rPr lang="en-US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ru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функционально богат, имеет сложную логику, фильтры, взаимодействие с базой данных и личным кабинетом, что позволит продемонстрировать все аспекты тестирования. </a:t>
            </a:r>
          </a:p>
          <a:p>
            <a:pPr lvl="0" fontAlgn="t"/>
            <a:r>
              <a:rPr lang="ru-RU" sz="1400" b="1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  Цель.</a:t>
            </a:r>
          </a:p>
          <a:p>
            <a:pPr lvl="0" fontAlgn="t"/>
            <a:r>
              <a:rPr lang="ru-RU" sz="1400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Проверить 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корректность работы механизмов поиска, фильтрации и отображения предложений в разделе «Популярное» на </a:t>
            </a:r>
            <a:r>
              <a:rPr lang="ru-RU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десктопной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версии сайта.</a:t>
            </a:r>
          </a:p>
          <a:p>
            <a:pPr lvl="0" fontAlgn="t"/>
            <a:r>
              <a:rPr lang="ru-RU" sz="1400" b="1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  Объем тестирования.</a:t>
            </a:r>
            <a:endParaRPr lang="ru-RU" sz="1400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В объем тестирования входит главная страница раздела «Популярное», строка поиска, фильтры (жанры, формат, язык, высокая оценка), карточка предложения (книги). 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В объем тестирования не входит мобильное приложение, разделы «мои книги» и «войти». </a:t>
            </a:r>
          </a:p>
          <a:p>
            <a:pPr lvl="0" fontAlgn="t"/>
            <a:r>
              <a:rPr lang="ru-RU" sz="1400" b="1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  Ресурсы.</a:t>
            </a:r>
            <a:endParaRPr lang="ru-RU" sz="1400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  <a:p>
            <a:pPr marL="285750" lvl="0" indent="-285750" fontAlgn="t">
              <a:buFont typeface="Arial" pitchFamily="34" charset="0"/>
              <a:buChar char="•"/>
            </a:pP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ПО:</a:t>
            </a:r>
          </a:p>
          <a:p>
            <a:pPr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- браузеры </a:t>
            </a:r>
            <a:r>
              <a:rPr lang="en-US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Chrome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Firefox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;</a:t>
            </a:r>
          </a:p>
          <a:p>
            <a:pPr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- для проверки </a:t>
            </a:r>
            <a:r>
              <a:rPr lang="en-US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API </a:t>
            </a:r>
            <a:r>
              <a:rPr lang="en-US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DevTools</a:t>
            </a:r>
            <a:r>
              <a:rPr lang="en-US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, Postman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;</a:t>
            </a:r>
          </a:p>
          <a:p>
            <a:pPr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- для разработки </a:t>
            </a:r>
            <a:r>
              <a:rPr lang="en-US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PyCharm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;</a:t>
            </a:r>
          </a:p>
          <a:p>
            <a:pPr fontAlgn="t"/>
            <a:r>
              <a:rPr lang="en-US" sz="1400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-  </a:t>
            </a:r>
            <a:r>
              <a:rPr lang="ru-RU" sz="1400" dirty="0" err="1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фреймворки</a:t>
            </a:r>
            <a:r>
              <a:rPr lang="ru-RU" sz="1400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для </a:t>
            </a:r>
            <a:r>
              <a:rPr lang="ru-RU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автотестов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Selenium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PyTest</a:t>
            </a:r>
            <a:r>
              <a:rPr lang="ru-RU" sz="1400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.</a:t>
            </a:r>
            <a:endParaRPr lang="en-US" sz="1400" dirty="0" smtClean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  <a:p>
            <a:pPr marL="285750" lvl="0" indent="-285750" fontAlgn="t">
              <a:buFont typeface="Arial" pitchFamily="34" charset="0"/>
              <a:buChar char="•"/>
            </a:pP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Данные:</a:t>
            </a:r>
          </a:p>
          <a:p>
            <a:pPr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- набор поисковых запросов;</a:t>
            </a:r>
          </a:p>
          <a:p>
            <a:pPr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- тестовые данные (</a:t>
            </a:r>
            <a:r>
              <a:rPr lang="ru-RU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невалидные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символы, спецсимволы</a:t>
            </a:r>
            <a:r>
              <a:rPr lang="ru-RU" sz="1400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). </a:t>
            </a:r>
            <a:endParaRPr lang="ru-RU" sz="1400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58907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6576" y="5013176"/>
            <a:ext cx="7464359" cy="1726134"/>
          </a:xfrm>
          <a:prstGeom prst="rect">
            <a:avLst/>
          </a:prstGeom>
        </p:spPr>
      </p:pic>
      <p:sp>
        <p:nvSpPr>
          <p:cNvPr id="4" name="Скругленный прямоугольник 3"/>
          <p:cNvSpPr/>
          <p:nvPr/>
        </p:nvSpPr>
        <p:spPr>
          <a:xfrm>
            <a:off x="1331640" y="188640"/>
            <a:ext cx="7464359" cy="5256584"/>
          </a:xfrm>
          <a:prstGeom prst="roundRect">
            <a:avLst>
              <a:gd name="adj" fmla="val 2279"/>
            </a:avLst>
          </a:prstGeom>
          <a:solidFill>
            <a:schemeClr val="bg2">
              <a:alpha val="4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fontAlgn="t"/>
            <a:endParaRPr lang="ru-RU" sz="1400" dirty="0">
              <a:solidFill>
                <a:srgbClr val="002060"/>
              </a:solidFill>
            </a:endParaRPr>
          </a:p>
          <a:p>
            <a:pPr lvl="0" fontAlgn="t"/>
            <a:r>
              <a:rPr lang="en-US" sz="1400" b="1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  </a:t>
            </a:r>
            <a:r>
              <a:rPr lang="ru-RU" sz="1400" b="1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Подходы </a:t>
            </a:r>
            <a:r>
              <a:rPr lang="ru-RU" sz="1400" b="1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и стратегия тестирования: </a:t>
            </a:r>
            <a:endParaRPr lang="ru-RU" sz="1400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Ручное исследовательское тестирование.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Функциональное тестирование. Позитивные и негативные сценарии.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Кросс-</a:t>
            </a:r>
            <a:r>
              <a:rPr lang="ru-RU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браузерное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тестирование.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Автоматизация критического пути (</a:t>
            </a:r>
            <a:r>
              <a:rPr lang="en-US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UI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-</a:t>
            </a:r>
            <a:r>
              <a:rPr lang="ru-RU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автотесты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).</a:t>
            </a:r>
          </a:p>
          <a:p>
            <a:pPr lvl="0" fontAlgn="t"/>
            <a:r>
              <a:rPr lang="en-US" sz="1400" b="1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  </a:t>
            </a:r>
            <a:r>
              <a:rPr lang="ru-RU" sz="1400" b="1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Критерии </a:t>
            </a:r>
            <a:r>
              <a:rPr lang="ru-RU" sz="1400" b="1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приемки: </a:t>
            </a:r>
            <a:endParaRPr lang="ru-RU" sz="1400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Поиск выдает релевантные результаты запросам.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Фильтры применяются корректно и обновляют список без ошибок.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Все блокирующие и критические баги исправлены.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Процент успешных </a:t>
            </a:r>
            <a:r>
              <a:rPr lang="ru-RU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автотестов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&gt; 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90%.</a:t>
            </a:r>
          </a:p>
          <a:p>
            <a:pPr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 </a:t>
            </a:r>
            <a:r>
              <a:rPr lang="en-US" sz="1400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 </a:t>
            </a:r>
            <a:r>
              <a:rPr lang="ru-RU" sz="1400" b="1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Риски</a:t>
            </a:r>
            <a:r>
              <a:rPr lang="ru-RU" sz="1400" b="1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:</a:t>
            </a:r>
            <a:endParaRPr lang="ru-RU" sz="1400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Изменение интерфейса сайта во время подготовки программы тестирования. Результатом станет обновление локаторов </a:t>
            </a:r>
            <a:r>
              <a:rPr lang="ru-RU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автотестов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Блокировка по </a:t>
            </a:r>
            <a:r>
              <a:rPr lang="en-US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IP 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при частых запросах. Потребуются паузы в </a:t>
            </a:r>
            <a:r>
              <a:rPr lang="ru-RU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автотестах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и ротация.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 </a:t>
            </a:r>
            <a:r>
              <a:rPr lang="en-US" sz="1400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b="1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График</a:t>
            </a:r>
            <a:r>
              <a:rPr lang="ru-RU" sz="1400" b="1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:</a:t>
            </a:r>
            <a:endParaRPr lang="ru-RU" sz="1400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Составление интеллект-карты (</a:t>
            </a:r>
            <a:r>
              <a:rPr lang="en-US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mindmap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).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Составление чек-листа.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Написание тест-кейсов.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Функциональное тестирование.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Кросс-</a:t>
            </a:r>
            <a:r>
              <a:rPr lang="ru-RU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браузерное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и </a:t>
            </a:r>
            <a:r>
              <a:rPr lang="ru-RU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юзабилити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 тестирование.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Написание баг-репортов.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Написание и отладка </a:t>
            </a:r>
            <a:r>
              <a:rPr lang="ru-RU" sz="1400" dirty="0" err="1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автотестов</a:t>
            </a:r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lvl="0" fontAlgn="t"/>
            <a:r>
              <a:rPr lang="ru-RU" sz="1400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Подготовка итогового отчета.</a:t>
            </a:r>
          </a:p>
          <a:p>
            <a:pPr algn="ctr" fontAlgn="t"/>
            <a:endParaRPr lang="ru-RU" sz="1400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0234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9737" y="1412776"/>
            <a:ext cx="7365104" cy="5042170"/>
          </a:xfrm>
          <a:prstGeom prst="rect">
            <a:avLst/>
          </a:prstGeom>
        </p:spPr>
      </p:pic>
      <p:sp>
        <p:nvSpPr>
          <p:cNvPr id="6" name="Подзаголовок 2"/>
          <p:cNvSpPr txBox="1">
            <a:spLocks/>
          </p:cNvSpPr>
          <p:nvPr/>
        </p:nvSpPr>
        <p:spPr>
          <a:xfrm>
            <a:off x="1259632" y="260648"/>
            <a:ext cx="2028128" cy="779512"/>
          </a:xfrm>
          <a:prstGeom prst="rect">
            <a:avLst/>
          </a:prstGeom>
        </p:spPr>
        <p:txBody>
          <a:bodyPr tIns="0">
            <a:normAutofit lnSpcReduction="10000"/>
          </a:bodyPr>
          <a:lstStyle>
            <a:lvl1pPr marL="27432" indent="0" algn="l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  <a:defRPr kumimoji="0" sz="2600" kern="1200">
                <a:solidFill>
                  <a:schemeClr val="tx2">
                    <a:shade val="30000"/>
                    <a:satMod val="1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1" latinLnBrk="0" hangingPunct="1">
              <a:lnSpc>
                <a:spcPct val="100000"/>
              </a:lnSpc>
              <a:spcBef>
                <a:spcPts val="550"/>
              </a:spcBef>
              <a:buClr>
                <a:schemeClr val="accent1"/>
              </a:buClr>
              <a:buFont typeface="Verdana"/>
              <a:buNone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2"/>
              </a:buClr>
              <a:buFont typeface="Wingdings 2"/>
              <a:buNone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3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4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5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MindMap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и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нтеллект-карта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887" y="380231"/>
            <a:ext cx="2852641" cy="914266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826" y="380231"/>
            <a:ext cx="2345736" cy="91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061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633" y="188640"/>
            <a:ext cx="7706280" cy="375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9634" y="4437112"/>
            <a:ext cx="7778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61950" algn="just"/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MindMap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-карта позволила структурировать данные по тестируемым страницам,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проанализировать рабочие процессы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определть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объем покрытия, определить план тестов. 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318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>
          <a:xfrm>
            <a:off x="1259632" y="19426"/>
            <a:ext cx="1512168" cy="457200"/>
          </a:xfrm>
          <a:prstGeom prst="rect">
            <a:avLst/>
          </a:prstGeom>
        </p:spPr>
        <p:txBody>
          <a:bodyPr tIns="0">
            <a:normAutofit/>
          </a:bodyPr>
          <a:lstStyle>
            <a:lvl1pPr marL="27432" indent="0" algn="l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  <a:defRPr kumimoji="0" sz="2600" kern="1200">
                <a:solidFill>
                  <a:schemeClr val="tx2">
                    <a:shade val="30000"/>
                    <a:satMod val="1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1" latinLnBrk="0" hangingPunct="1">
              <a:lnSpc>
                <a:spcPct val="100000"/>
              </a:lnSpc>
              <a:spcBef>
                <a:spcPts val="550"/>
              </a:spcBef>
              <a:buClr>
                <a:schemeClr val="accent1"/>
              </a:buClr>
              <a:buFont typeface="Verdana"/>
              <a:buNone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2"/>
              </a:buClr>
              <a:buFont typeface="Wingdings 2"/>
              <a:buNone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3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4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5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Чек-лист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9" name="Rectangle 2"/>
          <p:cNvSpPr>
            <a:spLocks noChangeArrowheads="1"/>
          </p:cNvSpPr>
          <p:nvPr/>
        </p:nvSpPr>
        <p:spPr bwMode="auto">
          <a:xfrm>
            <a:off x="3103794" y="63360"/>
            <a:ext cx="586069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165100" algn="l"/>
              </a:tabLst>
            </a:pPr>
            <a:r>
              <a:rPr kumimoji="0" lang="ru-RU" sz="9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Условные обозначения:</a:t>
            </a:r>
            <a:endParaRPr kumimoji="0" lang="ru-RU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tabLst>
                <a:tab pos="165100" algn="l"/>
              </a:tabLst>
            </a:pPr>
            <a:r>
              <a:rPr kumimoji="0" lang="ru-RU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Ф – функциональное тестирование;  Ю – </a:t>
            </a:r>
            <a:r>
              <a:rPr kumimoji="0" lang="ru-RU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юзабилити</a:t>
            </a:r>
            <a:r>
              <a:rPr kumimoji="0" lang="ru-RU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тестирование;  </a:t>
            </a:r>
            <a:r>
              <a:rPr lang="ru-RU" sz="900" dirty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КБ – кросс-</a:t>
            </a:r>
            <a:r>
              <a:rPr lang="ru-RU" sz="900" dirty="0" err="1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браузерное</a:t>
            </a:r>
            <a:r>
              <a:rPr lang="ru-RU" sz="900" dirty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тестирование</a:t>
            </a:r>
            <a:endParaRPr kumimoji="0" lang="ru-RU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4" name="Прямоугольник 23"/>
          <p:cNvSpPr/>
          <p:nvPr/>
        </p:nvSpPr>
        <p:spPr>
          <a:xfrm>
            <a:off x="1187624" y="332656"/>
            <a:ext cx="194421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/>
            <a:r>
              <a:rPr lang="ru-RU" sz="900" b="1" dirty="0" smtClean="0">
                <a:latin typeface="Times New Roman" pitchFamily="18" charset="0"/>
                <a:cs typeface="Times New Roman" pitchFamily="18" charset="0"/>
              </a:rPr>
              <a:t>1. Главная </a:t>
            </a:r>
            <a:r>
              <a:rPr lang="ru-RU" sz="900" b="1" dirty="0">
                <a:latin typeface="Times New Roman" pitchFamily="18" charset="0"/>
                <a:cs typeface="Times New Roman" pitchFamily="18" charset="0"/>
              </a:rPr>
              <a:t>страница раздела</a:t>
            </a:r>
            <a:endParaRPr lang="ru-RU" sz="900" dirty="0">
              <a:latin typeface="Times New Roman" pitchFamily="18" charset="0"/>
              <a:cs typeface="Times New Roman" pitchFamily="18" charset="0"/>
            </a:endParaRPr>
          </a:p>
          <a:p>
            <a:pPr marL="0" lvl="1"/>
            <a:r>
              <a:rPr lang="ru-RU" sz="900" dirty="0" smtClean="0">
                <a:latin typeface="Times New Roman" pitchFamily="18" charset="0"/>
                <a:cs typeface="Times New Roman" pitchFamily="18" charset="0"/>
              </a:rPr>
              <a:t>1.1 Загрузка </a:t>
            </a:r>
            <a:r>
              <a:rPr lang="ru-RU" sz="900" dirty="0">
                <a:latin typeface="Times New Roman" pitchFamily="18" charset="0"/>
                <a:cs typeface="Times New Roman" pitchFamily="18" charset="0"/>
              </a:rPr>
              <a:t>и отображение</a:t>
            </a:r>
          </a:p>
        </p:txBody>
      </p:sp>
      <p:graphicFrame>
        <p:nvGraphicFramePr>
          <p:cNvPr id="28" name="Объект 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58021215"/>
              </p:ext>
            </p:extLst>
          </p:nvPr>
        </p:nvGraphicFramePr>
        <p:xfrm>
          <a:off x="1043608" y="735516"/>
          <a:ext cx="3742169" cy="213760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99" name="Document" r:id="rId3" imgW="6084454" imgH="3709933" progId="Word.Document.12">
                  <p:embed/>
                </p:oleObj>
              </mc:Choice>
              <mc:Fallback>
                <p:oleObj name="Document" r:id="rId3" imgW="6084454" imgH="3709933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43608" y="735516"/>
                        <a:ext cx="3742169" cy="213760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Прямоугольник 28"/>
          <p:cNvSpPr/>
          <p:nvPr/>
        </p:nvSpPr>
        <p:spPr>
          <a:xfrm>
            <a:off x="1259632" y="2657095"/>
            <a:ext cx="1503040" cy="410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>
              <a:lnSpc>
                <a:spcPct val="115000"/>
              </a:lnSpc>
              <a:spcAft>
                <a:spcPts val="0"/>
              </a:spcAft>
            </a:pPr>
            <a:r>
              <a:rPr lang="ru-RU" sz="900" b="1" dirty="0" smtClean="0">
                <a:latin typeface="Times New Roman" pitchFamily="18" charset="0"/>
                <a:ea typeface="Calibri"/>
                <a:cs typeface="Times New Roman" pitchFamily="18" charset="0"/>
              </a:rPr>
              <a:t>2. Поисковая </a:t>
            </a:r>
            <a:r>
              <a:rPr lang="ru-RU" sz="900" b="1" dirty="0">
                <a:latin typeface="Times New Roman" pitchFamily="18" charset="0"/>
                <a:ea typeface="Calibri"/>
                <a:cs typeface="Times New Roman" pitchFamily="18" charset="0"/>
              </a:rPr>
              <a:t>строка</a:t>
            </a:r>
            <a:endParaRPr lang="ru-RU" sz="900" dirty="0">
              <a:latin typeface="Times New Roman" pitchFamily="18" charset="0"/>
              <a:ea typeface="Calibri"/>
              <a:cs typeface="Times New Roman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900" dirty="0">
                <a:latin typeface="Times New Roman" pitchFamily="18" charset="0"/>
                <a:ea typeface="Calibri"/>
                <a:cs typeface="Times New Roman" pitchFamily="18" charset="0"/>
              </a:rPr>
              <a:t>2</a:t>
            </a:r>
            <a:r>
              <a:rPr lang="ru-RU" sz="900" dirty="0">
                <a:latin typeface="Times New Roman" pitchFamily="18" charset="0"/>
                <a:ea typeface="Calibri"/>
                <a:cs typeface="Times New Roman" pitchFamily="18" charset="0"/>
              </a:rPr>
              <a:t>.1 Позитивные сценарии</a:t>
            </a:r>
            <a:endParaRPr lang="ru-RU" sz="900" dirty="0">
              <a:effectLst/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graphicFrame>
        <p:nvGraphicFramePr>
          <p:cNvPr id="30" name="Объект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7825182"/>
              </p:ext>
            </p:extLst>
          </p:nvPr>
        </p:nvGraphicFramePr>
        <p:xfrm>
          <a:off x="1043609" y="3066417"/>
          <a:ext cx="3744416" cy="18229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00" name="Document" r:id="rId5" imgW="6084454" imgH="3132472" progId="Word.Document.12">
                  <p:embed/>
                </p:oleObj>
              </mc:Choice>
              <mc:Fallback>
                <p:oleObj name="Document" r:id="rId5" imgW="6084454" imgH="3132472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043609" y="3066417"/>
                        <a:ext cx="3744416" cy="18229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Прямоугольник 31"/>
          <p:cNvSpPr/>
          <p:nvPr/>
        </p:nvSpPr>
        <p:spPr>
          <a:xfrm>
            <a:off x="1221677" y="4700552"/>
            <a:ext cx="1503040" cy="2388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900" dirty="0" smtClean="0">
                <a:latin typeface="Times New Roman" pitchFamily="18" charset="0"/>
                <a:ea typeface="Calibri"/>
                <a:cs typeface="Times New Roman" pitchFamily="18" charset="0"/>
              </a:rPr>
              <a:t>2</a:t>
            </a:r>
            <a:r>
              <a:rPr lang="ru-RU" sz="900" dirty="0" smtClean="0">
                <a:latin typeface="Times New Roman" pitchFamily="18" charset="0"/>
                <a:ea typeface="Calibri"/>
                <a:cs typeface="Times New Roman" pitchFamily="18" charset="0"/>
              </a:rPr>
              <a:t>.2 Негативные </a:t>
            </a:r>
            <a:r>
              <a:rPr lang="ru-RU" sz="900" dirty="0">
                <a:latin typeface="Times New Roman" pitchFamily="18" charset="0"/>
                <a:ea typeface="Calibri"/>
                <a:cs typeface="Times New Roman" pitchFamily="18" charset="0"/>
              </a:rPr>
              <a:t>сценарии</a:t>
            </a:r>
            <a:endParaRPr lang="ru-RU" sz="900" dirty="0">
              <a:effectLst/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graphicFrame>
        <p:nvGraphicFramePr>
          <p:cNvPr id="31" name="Объект 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5097587"/>
              </p:ext>
            </p:extLst>
          </p:nvPr>
        </p:nvGraphicFramePr>
        <p:xfrm>
          <a:off x="1043608" y="4939400"/>
          <a:ext cx="3744416" cy="183459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01" name="Document" r:id="rId7" imgW="6084454" imgH="2981627" progId="Word.Document.12">
                  <p:embed/>
                </p:oleObj>
              </mc:Choice>
              <mc:Fallback>
                <p:oleObj name="Document" r:id="rId7" imgW="6084454" imgH="2981627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043608" y="4939400"/>
                        <a:ext cx="3744416" cy="183459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Прямоугольник 34"/>
          <p:cNvSpPr/>
          <p:nvPr/>
        </p:nvSpPr>
        <p:spPr>
          <a:xfrm>
            <a:off x="4963803" y="476224"/>
            <a:ext cx="1503040" cy="2388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900" dirty="0" smtClean="0">
                <a:latin typeface="Times New Roman" pitchFamily="18" charset="0"/>
                <a:ea typeface="Calibri"/>
                <a:cs typeface="Times New Roman" pitchFamily="18" charset="0"/>
              </a:rPr>
              <a:t>2</a:t>
            </a:r>
            <a:r>
              <a:rPr lang="ru-RU" sz="900" dirty="0" smtClean="0">
                <a:latin typeface="Times New Roman" pitchFamily="18" charset="0"/>
                <a:ea typeface="Calibri"/>
                <a:cs typeface="Times New Roman" pitchFamily="18" charset="0"/>
              </a:rPr>
              <a:t>.3 Особенности</a:t>
            </a:r>
            <a:endParaRPr lang="ru-RU" sz="900" dirty="0">
              <a:effectLst/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graphicFrame>
        <p:nvGraphicFramePr>
          <p:cNvPr id="34" name="Объект 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54751517"/>
              </p:ext>
            </p:extLst>
          </p:nvPr>
        </p:nvGraphicFramePr>
        <p:xfrm>
          <a:off x="4860031" y="715072"/>
          <a:ext cx="4032449" cy="21934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02" name="Document" r:id="rId9" imgW="6084454" imgH="3309239" progId="Word.Document.12">
                  <p:embed/>
                </p:oleObj>
              </mc:Choice>
              <mc:Fallback>
                <p:oleObj name="Document" r:id="rId9" imgW="6084454" imgH="3309239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860031" y="715072"/>
                        <a:ext cx="4032449" cy="21934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Прямоугольник 36"/>
          <p:cNvSpPr/>
          <p:nvPr/>
        </p:nvSpPr>
        <p:spPr>
          <a:xfrm>
            <a:off x="4963802" y="2708920"/>
            <a:ext cx="1840445" cy="251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>
              <a:lnSpc>
                <a:spcPct val="115000"/>
              </a:lnSpc>
              <a:spcAft>
                <a:spcPts val="0"/>
              </a:spcAft>
            </a:pPr>
            <a:r>
              <a:rPr lang="ru-RU" sz="900" b="1" dirty="0" smtClean="0">
                <a:latin typeface="Times New Roman" pitchFamily="18" charset="0"/>
                <a:ea typeface="Calibri"/>
                <a:cs typeface="Times New Roman" pitchFamily="18" charset="0"/>
              </a:rPr>
              <a:t>3. Боковая панель. Фильтры.</a:t>
            </a:r>
            <a:endParaRPr lang="ru-RU" sz="900" dirty="0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graphicFrame>
        <p:nvGraphicFramePr>
          <p:cNvPr id="36" name="Объект 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31401836"/>
              </p:ext>
            </p:extLst>
          </p:nvPr>
        </p:nvGraphicFramePr>
        <p:xfrm>
          <a:off x="4860032" y="2960526"/>
          <a:ext cx="4008284" cy="9725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03" name="Document" r:id="rId11" imgW="6084454" imgH="1476773" progId="Word.Document.12">
                  <p:embed/>
                </p:oleObj>
              </mc:Choice>
              <mc:Fallback>
                <p:oleObj name="Document" r:id="rId11" imgW="6084454" imgH="1476773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4860032" y="2960526"/>
                        <a:ext cx="4008284" cy="9725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Прямоугольник 38"/>
          <p:cNvSpPr/>
          <p:nvPr/>
        </p:nvSpPr>
        <p:spPr>
          <a:xfrm>
            <a:off x="5015658" y="3738198"/>
            <a:ext cx="1644574" cy="410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>
              <a:lnSpc>
                <a:spcPct val="115000"/>
              </a:lnSpc>
              <a:spcAft>
                <a:spcPts val="0"/>
              </a:spcAft>
            </a:pPr>
            <a:r>
              <a:rPr lang="ru-RU" sz="900" b="1" dirty="0" smtClean="0">
                <a:latin typeface="Times New Roman" pitchFamily="18" charset="0"/>
                <a:ea typeface="Calibri"/>
                <a:cs typeface="Times New Roman" pitchFamily="18" charset="0"/>
              </a:rPr>
              <a:t>4. Список книг</a:t>
            </a:r>
            <a:endParaRPr lang="ru-RU" sz="900" dirty="0">
              <a:latin typeface="Times New Roman" pitchFamily="18" charset="0"/>
              <a:ea typeface="Calibri"/>
              <a:cs typeface="Times New Roman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ru-RU" sz="900" dirty="0" smtClean="0">
                <a:latin typeface="Times New Roman" pitchFamily="18" charset="0"/>
                <a:ea typeface="Calibri"/>
                <a:cs typeface="Times New Roman" pitchFamily="18" charset="0"/>
              </a:rPr>
              <a:t>4.1 Отображение элементов</a:t>
            </a:r>
            <a:endParaRPr lang="ru-RU" sz="900" dirty="0">
              <a:effectLst/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graphicFrame>
        <p:nvGraphicFramePr>
          <p:cNvPr id="38" name="Объект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2774751"/>
              </p:ext>
            </p:extLst>
          </p:nvPr>
        </p:nvGraphicFramePr>
        <p:xfrm>
          <a:off x="4860032" y="4115580"/>
          <a:ext cx="4032448" cy="14328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04" name="Document" r:id="rId13" imgW="6084454" imgH="2162238" progId="Word.Document.12">
                  <p:embed/>
                </p:oleObj>
              </mc:Choice>
              <mc:Fallback>
                <p:oleObj name="Document" r:id="rId13" imgW="6084454" imgH="2162238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860032" y="4115580"/>
                        <a:ext cx="4032448" cy="143287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Прямоугольник 40"/>
          <p:cNvSpPr/>
          <p:nvPr/>
        </p:nvSpPr>
        <p:spPr>
          <a:xfrm>
            <a:off x="5086425" y="5301208"/>
            <a:ext cx="1503040" cy="251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ru-RU" sz="900" dirty="0" smtClean="0">
                <a:latin typeface="Times New Roman" pitchFamily="18" charset="0"/>
                <a:ea typeface="Calibri"/>
                <a:cs typeface="Times New Roman" pitchFamily="18" charset="0"/>
              </a:rPr>
              <a:t>4.2 Действия в списке</a:t>
            </a:r>
            <a:endParaRPr lang="ru-RU" sz="900" dirty="0">
              <a:effectLst/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graphicFrame>
        <p:nvGraphicFramePr>
          <p:cNvPr id="40" name="Объект 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8504402"/>
              </p:ext>
            </p:extLst>
          </p:nvPr>
        </p:nvGraphicFramePr>
        <p:xfrm>
          <a:off x="4860032" y="5531474"/>
          <a:ext cx="4020356" cy="66394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05" name="Document" r:id="rId15" imgW="6084454" imgH="1004796" progId="Word.Document.12">
                  <p:embed/>
                </p:oleObj>
              </mc:Choice>
              <mc:Fallback>
                <p:oleObj name="Document" r:id="rId15" imgW="6084454" imgH="1004796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860032" y="5531474"/>
                        <a:ext cx="4020356" cy="66394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67857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1187624" y="332656"/>
            <a:ext cx="194421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/>
            <a:r>
              <a:rPr lang="ru-RU" sz="900" b="1" dirty="0" smtClean="0">
                <a:latin typeface="Times New Roman" pitchFamily="18" charset="0"/>
                <a:cs typeface="Times New Roman" pitchFamily="18" charset="0"/>
              </a:rPr>
              <a:t>5. Карточка книги</a:t>
            </a:r>
            <a:endParaRPr lang="ru-RU" sz="900" dirty="0">
              <a:latin typeface="Times New Roman" pitchFamily="18" charset="0"/>
              <a:cs typeface="Times New Roman" pitchFamily="18" charset="0"/>
            </a:endParaRPr>
          </a:p>
          <a:p>
            <a:pPr marL="0" lvl="1"/>
            <a:r>
              <a:rPr lang="ru-RU" sz="900" dirty="0" smtClean="0">
                <a:latin typeface="Times New Roman" pitchFamily="18" charset="0"/>
                <a:cs typeface="Times New Roman" pitchFamily="18" charset="0"/>
              </a:rPr>
              <a:t>5.1 Детальная информация</a:t>
            </a:r>
            <a:endParaRPr lang="ru-RU" sz="9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259632" y="2586070"/>
            <a:ext cx="2232248" cy="251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>
              <a:lnSpc>
                <a:spcPct val="115000"/>
              </a:lnSpc>
              <a:spcAft>
                <a:spcPts val="0"/>
              </a:spcAft>
            </a:pPr>
            <a:r>
              <a:rPr lang="ru-RU" sz="900" b="1" dirty="0">
                <a:latin typeface="Times New Roman" pitchFamily="18" charset="0"/>
                <a:ea typeface="Calibri"/>
                <a:cs typeface="Times New Roman" pitchFamily="18" charset="0"/>
              </a:rPr>
              <a:t>6</a:t>
            </a:r>
            <a:r>
              <a:rPr lang="ru-RU" sz="900" b="1" dirty="0" smtClean="0">
                <a:latin typeface="Times New Roman" pitchFamily="18" charset="0"/>
                <a:ea typeface="Calibri"/>
                <a:cs typeface="Times New Roman" pitchFamily="18" charset="0"/>
              </a:rPr>
              <a:t>. Кросс-функциональные проверки</a:t>
            </a:r>
            <a:endParaRPr lang="ru-RU" sz="900" dirty="0">
              <a:effectLst/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1259632" y="1628800"/>
            <a:ext cx="1503040" cy="2388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ru-RU" sz="900" dirty="0">
                <a:latin typeface="Times New Roman" pitchFamily="18" charset="0"/>
                <a:ea typeface="Calibri"/>
                <a:cs typeface="Times New Roman" pitchFamily="18" charset="0"/>
              </a:rPr>
              <a:t>5</a:t>
            </a:r>
            <a:r>
              <a:rPr lang="ru-RU" sz="900" dirty="0" smtClean="0">
                <a:latin typeface="Times New Roman" pitchFamily="18" charset="0"/>
                <a:ea typeface="Calibri"/>
                <a:cs typeface="Times New Roman" pitchFamily="18" charset="0"/>
              </a:rPr>
              <a:t>.2 Действия</a:t>
            </a:r>
            <a:endParaRPr lang="ru-RU" sz="900" dirty="0">
              <a:effectLst/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sp>
        <p:nvSpPr>
          <p:cNvPr id="37" name="Прямоугольник 36"/>
          <p:cNvSpPr/>
          <p:nvPr/>
        </p:nvSpPr>
        <p:spPr>
          <a:xfrm>
            <a:off x="1259632" y="3471167"/>
            <a:ext cx="1840445" cy="2388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>
              <a:lnSpc>
                <a:spcPct val="115000"/>
              </a:lnSpc>
              <a:spcAft>
                <a:spcPts val="0"/>
              </a:spcAft>
            </a:pPr>
            <a:r>
              <a:rPr lang="ru-RU" sz="900" b="1" dirty="0" smtClean="0">
                <a:latin typeface="Times New Roman" pitchFamily="18" charset="0"/>
                <a:ea typeface="Calibri"/>
                <a:cs typeface="Times New Roman" pitchFamily="18" charset="0"/>
              </a:rPr>
              <a:t>7. </a:t>
            </a:r>
            <a:r>
              <a:rPr lang="ru-RU" sz="900" b="1" dirty="0" err="1" smtClean="0">
                <a:latin typeface="Times New Roman" pitchFamily="18" charset="0"/>
                <a:ea typeface="Calibri"/>
                <a:cs typeface="Times New Roman" pitchFamily="18" charset="0"/>
              </a:rPr>
              <a:t>Юзабилити</a:t>
            </a:r>
            <a:endParaRPr lang="ru-RU" sz="900" dirty="0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graphicFrame>
        <p:nvGraphicFramePr>
          <p:cNvPr id="2" name="Объект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8814229"/>
              </p:ext>
            </p:extLst>
          </p:nvPr>
        </p:nvGraphicFramePr>
        <p:xfrm>
          <a:off x="1043609" y="715072"/>
          <a:ext cx="3744416" cy="1118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3" name="Document" r:id="rId3" imgW="6084454" imgH="1818065" progId="Word.Document.12">
                  <p:embed/>
                </p:oleObj>
              </mc:Choice>
              <mc:Fallback>
                <p:oleObj name="Document" r:id="rId3" imgW="6084454" imgH="1818065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43609" y="715072"/>
                        <a:ext cx="3744416" cy="11185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Объект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1763116"/>
              </p:ext>
            </p:extLst>
          </p:nvPr>
        </p:nvGraphicFramePr>
        <p:xfrm>
          <a:off x="1043608" y="1875352"/>
          <a:ext cx="3744416" cy="90557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4" name="Document" r:id="rId5" imgW="6084454" imgH="1471733" progId="Word.Document.12">
                  <p:embed/>
                </p:oleObj>
              </mc:Choice>
              <mc:Fallback>
                <p:oleObj name="Document" r:id="rId5" imgW="6084454" imgH="1471733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043608" y="1875352"/>
                        <a:ext cx="3744416" cy="90557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Объект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93004578"/>
              </p:ext>
            </p:extLst>
          </p:nvPr>
        </p:nvGraphicFramePr>
        <p:xfrm>
          <a:off x="1043609" y="2823517"/>
          <a:ext cx="3744415" cy="81570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5" name="Document" r:id="rId7" imgW="6084454" imgH="1326288" progId="Word.Document.12">
                  <p:embed/>
                </p:oleObj>
              </mc:Choice>
              <mc:Fallback>
                <p:oleObj name="Document" r:id="rId7" imgW="6084454" imgH="1326288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043609" y="2823517"/>
                        <a:ext cx="3744415" cy="81570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Объект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8908153"/>
              </p:ext>
            </p:extLst>
          </p:nvPr>
        </p:nvGraphicFramePr>
        <p:xfrm>
          <a:off x="1043608" y="3710015"/>
          <a:ext cx="3734155" cy="10151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6" name="Document" r:id="rId9" imgW="6084454" imgH="1653899" progId="Word.Document.12">
                  <p:embed/>
                </p:oleObj>
              </mc:Choice>
              <mc:Fallback>
                <p:oleObj name="Document" r:id="rId9" imgW="6084454" imgH="1653899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043608" y="3710015"/>
                        <a:ext cx="3734155" cy="10151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Прямоугольник 21"/>
          <p:cNvSpPr/>
          <p:nvPr/>
        </p:nvSpPr>
        <p:spPr>
          <a:xfrm>
            <a:off x="4932040" y="332222"/>
            <a:ext cx="194421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/>
            <a:r>
              <a:rPr lang="ru-RU" sz="900" b="1" dirty="0" smtClean="0">
                <a:latin typeface="Times New Roman" pitchFamily="18" charset="0"/>
                <a:cs typeface="Times New Roman" pitchFamily="18" charset="0"/>
              </a:rPr>
              <a:t>Итого по чек-листу:</a:t>
            </a:r>
            <a:endParaRPr lang="ru-RU" sz="900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7" name="Объект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80751441"/>
              </p:ext>
            </p:extLst>
          </p:nvPr>
        </p:nvGraphicFramePr>
        <p:xfrm>
          <a:off x="4919554" y="701989"/>
          <a:ext cx="4027037" cy="15748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7" name="Document" r:id="rId11" imgW="6084454" imgH="2379685" progId="Word.Document.12">
                  <p:embed/>
                </p:oleObj>
              </mc:Choice>
              <mc:Fallback>
                <p:oleObj name="Document" r:id="rId11" imgW="6084454" imgH="2379685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4919554" y="701989"/>
                        <a:ext cx="4027037" cy="15748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929766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/>
          <p:cNvSpPr txBox="1">
            <a:spLocks/>
          </p:cNvSpPr>
          <p:nvPr/>
        </p:nvSpPr>
        <p:spPr>
          <a:xfrm>
            <a:off x="1259632" y="19426"/>
            <a:ext cx="2160240" cy="457200"/>
          </a:xfrm>
          <a:prstGeom prst="rect">
            <a:avLst/>
          </a:prstGeom>
        </p:spPr>
        <p:txBody>
          <a:bodyPr tIns="0">
            <a:normAutofit/>
          </a:bodyPr>
          <a:lstStyle>
            <a:lvl1pPr marL="27432" indent="0" algn="l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  <a:defRPr kumimoji="0" sz="2600" kern="1200">
                <a:solidFill>
                  <a:schemeClr val="tx2">
                    <a:shade val="30000"/>
                    <a:satMod val="1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1" latinLnBrk="0" hangingPunct="1">
              <a:lnSpc>
                <a:spcPct val="100000"/>
              </a:lnSpc>
              <a:spcBef>
                <a:spcPts val="550"/>
              </a:spcBef>
              <a:buClr>
                <a:schemeClr val="accent1"/>
              </a:buClr>
              <a:buFont typeface="Verdana"/>
              <a:buNone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2"/>
              </a:buClr>
              <a:buFont typeface="Wingdings 2"/>
              <a:buNone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3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4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5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Тест-кейсы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8" name="Объект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5491834"/>
              </p:ext>
            </p:extLst>
          </p:nvPr>
        </p:nvGraphicFramePr>
        <p:xfrm>
          <a:off x="1547664" y="354430"/>
          <a:ext cx="6768752" cy="62828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2" name="Worksheet" r:id="rId3" imgW="9934531" imgH="9220121" progId="Excel.Sheet.12">
                  <p:embed/>
                </p:oleObj>
              </mc:Choice>
              <mc:Fallback>
                <p:oleObj name="Worksheet" r:id="rId3" imgW="9934531" imgH="9220121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47664" y="354430"/>
                        <a:ext cx="6768752" cy="628281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97418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33195957"/>
              </p:ext>
            </p:extLst>
          </p:nvPr>
        </p:nvGraphicFramePr>
        <p:xfrm>
          <a:off x="1331640" y="260648"/>
          <a:ext cx="7163559" cy="54726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Worksheet" r:id="rId3" imgW="11706447" imgH="8943857" progId="Excel.Sheet.12">
                  <p:embed/>
                </p:oleObj>
              </mc:Choice>
              <mc:Fallback>
                <p:oleObj name="Worksheet" r:id="rId3" imgW="11706447" imgH="894385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31640" y="260648"/>
                        <a:ext cx="7163559" cy="547260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31640" y="6093296"/>
            <a:ext cx="4881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По тест-кейсам было проведено ручное тестирование сайта 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663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/>
          <p:cNvSpPr txBox="1">
            <a:spLocks/>
          </p:cNvSpPr>
          <p:nvPr/>
        </p:nvSpPr>
        <p:spPr>
          <a:xfrm>
            <a:off x="1238204" y="260648"/>
            <a:ext cx="5544616" cy="457200"/>
          </a:xfrm>
          <a:prstGeom prst="rect">
            <a:avLst/>
          </a:prstGeom>
        </p:spPr>
        <p:txBody>
          <a:bodyPr>
            <a:normAutofit/>
          </a:bodyPr>
          <a:lstStyle>
            <a:lvl1pPr marL="365760" indent="-283464" algn="l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37744" algn="l" rtl="0" eaLnBrk="1" latinLnBrk="0" hangingPunct="1">
              <a:lnSpc>
                <a:spcPct val="100000"/>
              </a:lnSpc>
              <a:spcBef>
                <a:spcPts val="550"/>
              </a:spcBef>
              <a:buClr>
                <a:schemeClr val="accent1"/>
              </a:buClr>
              <a:buFont typeface="Verdana"/>
              <a:buChar char="◦"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6968" indent="-22860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2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173736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3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4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82296" indent="0">
              <a:buNone/>
            </a:pP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Автоматизированное тестирование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03647" y="726788"/>
            <a:ext cx="45057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Структура проекта автоматизированного тестирования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1115616" y="1052103"/>
            <a:ext cx="3354046" cy="3323987"/>
          </a:xfrm>
          <a:prstGeom prst="rect">
            <a:avLst/>
          </a:prstGeom>
          <a:solidFill>
            <a:srgbClr val="191A1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Litres-testing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/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│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├─</a:t>
            </a:r>
            <a:r>
              <a:rPr kumimoji="0" lang="en-US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README.md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/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├─</a:t>
            </a:r>
            <a:r>
              <a:rPr kumimoji="0" lang="en-US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pytest.ini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/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├─</a:t>
            </a:r>
            <a:r>
              <a:rPr kumimoji="0" lang="en-US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conftest.py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ru-RU" sz="1000" dirty="0">
                <a:solidFill>
                  <a:srgbClr val="6AAB73"/>
                </a:solidFill>
                <a:latin typeface="JetBrains Mono"/>
                <a:cs typeface="Arial" pitchFamily="34" charset="0"/>
              </a:rPr>
              <a:t>│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/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├─ </a:t>
            </a:r>
            <a:r>
              <a:rPr kumimoji="0" lang="en-US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.</a:t>
            </a:r>
            <a:r>
              <a:rPr kumimoji="0" lang="en-US" sz="1000" b="0" i="0" u="none" strike="noStrike" cap="none" normalizeH="0" baseline="0" dirty="0" err="1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venv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/</a:t>
            </a:r>
            <a:endParaRPr kumimoji="0" lang="en-US" sz="1000" b="0" i="0" u="none" strike="noStrike" cap="none" normalizeH="0" baseline="0" dirty="0" smtClean="0">
              <a:ln>
                <a:noFill/>
              </a:ln>
              <a:solidFill>
                <a:srgbClr val="6AAB73"/>
              </a:solidFill>
              <a:effectLst/>
              <a:latin typeface="JetBrains Mono"/>
              <a:cs typeface="Arial" pitchFamily="34" charset="0"/>
            </a:endParaRP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ru-RU" sz="1000" dirty="0">
                <a:solidFill>
                  <a:srgbClr val="6AAB73"/>
                </a:solidFill>
                <a:latin typeface="JetBrains Mono"/>
                <a:cs typeface="Arial" pitchFamily="34" charset="0"/>
              </a:rPr>
              <a:t>│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/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├──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pages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/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│   ├── __init__.py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│   ├── base_page.py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│   ├── main_page.py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│   └──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se</a:t>
            </a:r>
            <a:r>
              <a:rPr kumimoji="0" lang="en-US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a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rch_page.py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│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lang="ru-RU" sz="1000" dirty="0">
                <a:solidFill>
                  <a:srgbClr val="6AAB73"/>
                </a:solidFill>
                <a:latin typeface="JetBrains Mono"/>
                <a:cs typeface="Arial" pitchFamily="34" charset="0"/>
              </a:rPr>
              <a:t>└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──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tests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/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en-US" sz="1000" b="0" i="0" u="none" strike="noStrike" cap="none" normalizeH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  ├── __init__.py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en-US" sz="1000" b="0" i="0" u="none" strike="noStrike" cap="none" normalizeH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 </a:t>
            </a:r>
            <a:r>
              <a:rPr kumimoji="0" lang="en-US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├── test_litres_search_Lukyanenko.py 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  </a:t>
            </a:r>
            <a:r>
              <a:rPr kumimoji="0" lang="en-US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├── test_litres_search_more.py    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  </a:t>
            </a:r>
            <a:r>
              <a:rPr kumimoji="0" lang="en-US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├── test_litres_search_audio.py    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 </a:t>
            </a:r>
            <a:r>
              <a:rPr kumimoji="0" lang="en-US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├── test_litres_search_negative_symbol.py </a:t>
            </a:r>
            <a:b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</a:b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  </a:t>
            </a:r>
            <a:r>
              <a:rPr kumimoji="0" lang="en-US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 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  <a:cs typeface="Arial" pitchFamily="34" charset="0"/>
              </a:rPr>
              <a:t>└── test_litres_search_negative_asdfghjkl123456.py        </a:t>
            </a:r>
            <a:endParaRPr kumimoji="0" 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16016" y="1052103"/>
            <a:ext cx="4176464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Где:</a:t>
            </a:r>
          </a:p>
          <a:p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README.md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 – 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описание проекта, инструкция по запуску.</a:t>
            </a:r>
          </a:p>
          <a:p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pytest.ini</a:t>
            </a:r>
            <a:r>
              <a:rPr lang="en-US" sz="1400" dirty="0" smtClean="0">
                <a:latin typeface="Times New Roman" pitchFamily="18" charset="0"/>
                <a:cs typeface="Times New Roman" pitchFamily="18" charset="0"/>
              </a:rPr>
              <a:t> – 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основной конфигурационный 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>файл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 для определения работы </a:t>
            </a:r>
            <a:r>
              <a:rPr lang="en-US" sz="1400" dirty="0" err="1" smtClean="0">
                <a:latin typeface="Times New Roman" pitchFamily="18" charset="0"/>
                <a:cs typeface="Times New Roman" pitchFamily="18" charset="0"/>
              </a:rPr>
              <a:t>pytest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по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умолчнию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lvl="0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conftest.py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– файл создания общих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фикстур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, добавления хуков, вешних плагинов.</a:t>
            </a:r>
          </a:p>
          <a:p>
            <a:pPr lvl="0"/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base_page.py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>– 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файл, содержащий класс с основными функциями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автотеста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main_page.py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>– файл, содержащий 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локаторы элементов главной страницы сайта, функции </a:t>
            </a:r>
            <a:r>
              <a:rPr lang="ru-RU" sz="1400" dirty="0" err="1">
                <a:latin typeface="Times New Roman" pitchFamily="18" charset="0"/>
                <a:cs typeface="Times New Roman" pitchFamily="18" charset="0"/>
              </a:rPr>
              <a:t>автотеста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US" sz="1400" b="1" dirty="0" smtClean="0">
                <a:latin typeface="Times New Roman" pitchFamily="18" charset="0"/>
                <a:cs typeface="Times New Roman" pitchFamily="18" charset="0"/>
              </a:rPr>
              <a:t>search_page.py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>– файл, содержащий локаторы элементов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иследуемой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>страницы сайта, функции </a:t>
            </a:r>
            <a:r>
              <a:rPr lang="ru-RU" sz="1400" dirty="0" err="1">
                <a:latin typeface="Times New Roman" pitchFamily="18" charset="0"/>
                <a:cs typeface="Times New Roman" pitchFamily="18" charset="0"/>
              </a:rPr>
              <a:t>автотеста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lvl="0"/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Rectangle 1"/>
          <p:cNvSpPr>
            <a:spLocks noChangeArrowheads="1"/>
          </p:cNvSpPr>
          <p:nvPr/>
        </p:nvSpPr>
        <p:spPr bwMode="auto">
          <a:xfrm>
            <a:off x="1115616" y="4714692"/>
            <a:ext cx="7848872" cy="1169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0" lang="ru-RU" sz="1400" b="1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Разработано 5</a:t>
            </a:r>
            <a:r>
              <a:rPr kumimoji="0" lang="en-US" sz="1400" b="1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</a:t>
            </a:r>
            <a:r>
              <a:rPr kumimoji="0" lang="ru-RU" sz="1400" b="1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 </a:t>
            </a:r>
            <a:r>
              <a:rPr lang="ru-RU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учетом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Chrome </a:t>
            </a:r>
            <a:r>
              <a:rPr lang="ru-RU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Firefox</a:t>
            </a:r>
            <a:r>
              <a:rPr lang="ru-RU" sz="1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ru-RU" sz="1400" b="1" i="0" u="none" strike="noStrike" cap="none" normalizeH="0" baseline="0" dirty="0" err="1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автотестов</a:t>
            </a:r>
            <a:r>
              <a:rPr kumimoji="0" lang="ru-RU" sz="1400" b="1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</a:t>
            </a:r>
            <a:r>
              <a:rPr kumimoji="0" lang="ru-RU" sz="1400" b="1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с использованием:</a:t>
            </a:r>
            <a:endParaRPr kumimoji="0" lang="ru-RU" sz="1400" b="1" i="0" u="none" strike="noStrike" cap="none" normalizeH="0" baseline="0" dirty="0" smtClean="0">
              <a:ln>
                <a:noFill/>
              </a:ln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400" b="0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-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Python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3.8+ — язык программирования</a:t>
            </a:r>
            <a:endParaRPr kumimoji="0" lang="ru-RU" sz="1400" b="0" i="0" u="none" strike="noStrike" cap="none" normalizeH="0" baseline="0" dirty="0" smtClean="0">
              <a:ln>
                <a:noFill/>
              </a:ln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400" b="0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-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Selenium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WebDriver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—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фреймворк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для автоматизации браузера</a:t>
            </a:r>
            <a:endParaRPr kumimoji="0" lang="ru-RU" sz="1400" b="0" i="0" u="none" strike="noStrike" cap="none" normalizeH="0" baseline="0" dirty="0" smtClean="0">
              <a:ln>
                <a:noFill/>
              </a:ln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400" b="0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-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PyTest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— тестовый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фреймворк</a:t>
            </a:r>
            <a:endParaRPr kumimoji="0" lang="ru-RU" sz="1400" b="0" i="0" u="none" strike="noStrike" cap="none" normalizeH="0" baseline="0" dirty="0" smtClean="0">
              <a:ln>
                <a:noFill/>
              </a:ln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400" b="0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-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Page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Object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</a:t>
            </a:r>
            <a:r>
              <a:rPr kumimoji="0" lang="ru-RU" sz="1400" b="0" i="0" u="none" strike="noStrike" cap="none" normalizeH="0" baseline="0" dirty="0" err="1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Model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— паттерн проектирования</a:t>
            </a:r>
            <a:endParaRPr kumimoji="0" lang="ru-RU" sz="1400" b="0" i="0" u="none" strike="noStrike" cap="none" normalizeH="0" baseline="0" dirty="0" smtClean="0">
              <a:ln>
                <a:noFill/>
              </a:ln>
              <a:effectLst/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2135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24556"/>
              </p:ext>
            </p:extLst>
          </p:nvPr>
        </p:nvGraphicFramePr>
        <p:xfrm>
          <a:off x="1259632" y="188640"/>
          <a:ext cx="7560841" cy="299694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0146"/>
                <a:gridCol w="2150124"/>
                <a:gridCol w="2700300"/>
                <a:gridCol w="2430271"/>
              </a:tblGrid>
              <a:tr h="16326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 dirty="0">
                          <a:effectLst/>
                        </a:rPr>
                        <a:t>№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 dirty="0">
                          <a:effectLst/>
                        </a:rPr>
                        <a:t>Файл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 dirty="0">
                          <a:effectLst/>
                        </a:rPr>
                        <a:t>Название теста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Описание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44527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 err="1" smtClean="0">
                          <a:effectLst/>
                        </a:rPr>
                        <a:t>test_litres_search_Lukyanenko</a:t>
                      </a:r>
                      <a:endParaRPr lang="ru-RU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 err="1">
                          <a:effectLst/>
                        </a:rPr>
                        <a:t>test_search_lukyanenko_in_popular</a:t>
                      </a:r>
                      <a:endParaRPr lang="ru-RU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000" dirty="0" smtClean="0">
                          <a:effectLst/>
                        </a:rPr>
                        <a:t>Позитивный тест </a:t>
                      </a:r>
                      <a:r>
                        <a:rPr lang="ru-RU" sz="1000" dirty="0">
                          <a:effectLst/>
                        </a:rPr>
                        <a:t>предназначен для получения списка книг автора Лукьяненко в разделе Популярное на </a:t>
                      </a:r>
                      <a:r>
                        <a:rPr lang="en-US" sz="1000" dirty="0" err="1">
                          <a:effectLst/>
                        </a:rPr>
                        <a:t>Litres</a:t>
                      </a:r>
                      <a:endParaRPr lang="ru-RU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44527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2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 err="1" smtClean="0">
                          <a:effectLst/>
                        </a:rPr>
                        <a:t>test_litres_search_audio</a:t>
                      </a:r>
                      <a:endParaRPr lang="ru-RU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 </a:t>
                      </a:r>
                      <a:r>
                        <a:rPr lang="en-US" sz="1000" dirty="0" err="1" smtClean="0">
                          <a:effectLst/>
                        </a:rPr>
                        <a:t>test_search_audio_in_popular</a:t>
                      </a:r>
                      <a:endParaRPr lang="ru-RU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effectLst/>
                        </a:rPr>
                        <a:t> </a:t>
                      </a:r>
                      <a:r>
                        <a:rPr lang="ru-RU" sz="1000" dirty="0" smtClean="0">
                          <a:effectLst/>
                        </a:rPr>
                        <a:t>Позитивный тест предназначен для получения списка аудиокниг в разделе Популярное на </a:t>
                      </a:r>
                      <a:r>
                        <a:rPr lang="en-US" sz="1000" dirty="0" err="1" smtClean="0">
                          <a:effectLst/>
                        </a:rPr>
                        <a:t>Litres</a:t>
                      </a:r>
                      <a:endParaRPr lang="ru-RU" sz="1000" dirty="0" smtClean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44527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3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 b="0" dirty="0">
                          <a:effectLst/>
                          <a:latin typeface="+mn-lt"/>
                        </a:rPr>
                        <a:t> </a:t>
                      </a:r>
                      <a:r>
                        <a:rPr lang="en-US" sz="10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test_lites_sarch_more</a:t>
                      </a:r>
                      <a:endParaRPr lang="ru-RU" sz="1000" b="0" dirty="0">
                        <a:effectLst/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 </a:t>
                      </a:r>
                      <a:r>
                        <a:rPr lang="en-US" sz="1000" dirty="0" err="1" smtClean="0">
                          <a:effectLst/>
                        </a:rPr>
                        <a:t>test_search_more_in_popular</a:t>
                      </a:r>
                      <a:endParaRPr lang="ru-RU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effectLst/>
                        </a:rPr>
                        <a:t> </a:t>
                      </a:r>
                      <a:r>
                        <a:rPr lang="ru-RU" sz="1000" dirty="0" smtClean="0">
                          <a:effectLst/>
                        </a:rPr>
                        <a:t>Позитивный тест предназначен для увеличения списка книг по кнопке «Показать еще»</a:t>
                      </a:r>
                      <a:endParaRPr lang="ru-RU" sz="1000" dirty="0" smtClean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44527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4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effectLst/>
                        </a:rPr>
                        <a:t> </a:t>
                      </a:r>
                      <a:r>
                        <a:rPr lang="en-US" sz="10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test_lites_sarch_</a:t>
                      </a:r>
                      <a:r>
                        <a:rPr lang="en-US" sz="1000" dirty="0" err="1" smtClean="0">
                          <a:effectLst/>
                        </a:rPr>
                        <a:t>negative_symbol</a:t>
                      </a:r>
                      <a:endParaRPr lang="ru-RU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 </a:t>
                      </a:r>
                      <a:r>
                        <a:rPr lang="en-US" sz="1000" dirty="0" err="1" smtClean="0">
                          <a:effectLst/>
                        </a:rPr>
                        <a:t>test_search_negative_symbol</a:t>
                      </a:r>
                      <a:endParaRPr lang="ru-RU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effectLst/>
                        </a:rPr>
                        <a:t> </a:t>
                      </a:r>
                      <a:r>
                        <a:rPr lang="ru-RU" sz="1000" dirty="0" smtClean="0">
                          <a:effectLst/>
                        </a:rPr>
                        <a:t>Негативный тест при </a:t>
                      </a:r>
                      <a:r>
                        <a:rPr lang="ru-RU" sz="100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обработке спецсимволов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ru-RU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44527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5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effectLst/>
                        </a:rPr>
                        <a:t> </a:t>
                      </a:r>
                      <a:r>
                        <a:rPr lang="en-US" sz="10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test_lites_sarch_</a:t>
                      </a:r>
                      <a:r>
                        <a:rPr lang="en-US" sz="1000" dirty="0" err="1" smtClean="0">
                          <a:effectLst/>
                        </a:rPr>
                        <a:t>negative</a:t>
                      </a:r>
                      <a:r>
                        <a:rPr lang="en-US" sz="1000" dirty="0" smtClean="0">
                          <a:effectLst/>
                        </a:rPr>
                        <a:t>_</a:t>
                      </a:r>
                      <a:endParaRPr lang="ru-RU" sz="1000" dirty="0" smtClean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asdfghjkl123456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ru-RU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effectLst/>
                        </a:rPr>
                        <a:t> </a:t>
                      </a:r>
                      <a:r>
                        <a:rPr lang="en-US" sz="1000" dirty="0" smtClean="0">
                          <a:effectLst/>
                        </a:rPr>
                        <a:t>test_search_negative_</a:t>
                      </a:r>
                      <a:r>
                        <a:rPr lang="en-US" sz="10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asdfghjkl123456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ru-RU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effectLst/>
                        </a:rPr>
                        <a:t> </a:t>
                      </a:r>
                      <a:r>
                        <a:rPr lang="ru-RU" sz="1000" dirty="0" smtClean="0">
                          <a:effectLst/>
                        </a:rPr>
                        <a:t>Негативный тест </a:t>
                      </a:r>
                      <a:r>
                        <a:rPr lang="ru-RU" sz="100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 обработке несуществующего запроса</a:t>
                      </a:r>
                    </a:p>
                    <a:p>
                      <a:endParaRPr lang="ru-RU" sz="10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536142"/>
              </p:ext>
            </p:extLst>
          </p:nvPr>
        </p:nvGraphicFramePr>
        <p:xfrm>
          <a:off x="1259632" y="3668992"/>
          <a:ext cx="7560840" cy="96393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76978"/>
                <a:gridCol w="1903837"/>
                <a:gridCol w="3780025"/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 dirty="0">
                          <a:effectLst/>
                        </a:rPr>
                        <a:t>Компонент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 dirty="0">
                          <a:effectLst/>
                        </a:rPr>
                        <a:t>Версия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 dirty="0">
                          <a:effectLst/>
                        </a:rPr>
                        <a:t>Примечание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Python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3.8+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Необходим для запуска автотестов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Google Chrome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120+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Для запуска тестов в Chrome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Mozilla Firefox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120+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Для запуска тестов в Firefox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Git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Любая</a:t>
                      </a:r>
                      <a:endParaRPr lang="ru-RU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ru-RU" sz="1100" dirty="0" smtClean="0">
                          <a:effectLst/>
                        </a:rPr>
                        <a:t>Для </a:t>
                      </a:r>
                      <a:r>
                        <a:rPr lang="ru-RU" sz="1100" dirty="0">
                          <a:effectLst/>
                        </a:rPr>
                        <a:t>клонирования </a:t>
                      </a:r>
                      <a:r>
                        <a:rPr lang="ru-RU" sz="1100" dirty="0" err="1">
                          <a:effectLst/>
                        </a:rPr>
                        <a:t>репозитория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1331640" y="3356992"/>
            <a:ext cx="2632793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3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Calibri" pitchFamily="34" charset="0"/>
                <a:cs typeface="Times New Roman" pitchFamily="18" charset="0"/>
              </a:rPr>
              <a:t>Программное обеспечение</a:t>
            </a:r>
            <a:endParaRPr kumimoji="0" lang="ru-RU" sz="13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1316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/>
          <p:cNvSpPr txBox="1">
            <a:spLocks/>
          </p:cNvSpPr>
          <p:nvPr/>
        </p:nvSpPr>
        <p:spPr>
          <a:xfrm>
            <a:off x="1238204" y="260648"/>
            <a:ext cx="7654276" cy="457200"/>
          </a:xfrm>
          <a:prstGeom prst="rect">
            <a:avLst/>
          </a:prstGeom>
        </p:spPr>
        <p:txBody>
          <a:bodyPr>
            <a:normAutofit/>
          </a:bodyPr>
          <a:lstStyle>
            <a:lvl1pPr marL="365760" indent="-283464" algn="l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Char char=""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37744" algn="l" rtl="0" eaLnBrk="1" latinLnBrk="0" hangingPunct="1">
              <a:lnSpc>
                <a:spcPct val="100000"/>
              </a:lnSpc>
              <a:spcBef>
                <a:spcPts val="550"/>
              </a:spcBef>
              <a:buClr>
                <a:schemeClr val="accent1"/>
              </a:buClr>
              <a:buFont typeface="Verdana"/>
              <a:buChar char="◦"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6968" indent="-22860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2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173736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3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4"/>
              </a:buClr>
              <a:buFont typeface="Wingdings 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lnSpc>
                <a:spcPct val="100000"/>
              </a:lnSpc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  <a:extLst/>
          </a:lstStyle>
          <a:p>
            <a:pPr marL="82296" indent="0">
              <a:buNone/>
            </a:pP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Результаты автоматизированного тестирования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38204" y="735627"/>
            <a:ext cx="707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1.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test_search_lukyanenko_in_popular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–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100% прохождение теста</a:t>
            </a:r>
            <a:endParaRPr lang="ru-RU" dirty="0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313" y="1829003"/>
            <a:ext cx="7711168" cy="393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6861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172824" y="44624"/>
            <a:ext cx="7078212" cy="390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2.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test_search_audio_in_popular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–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100% прохождение теста</a:t>
            </a:r>
            <a:endParaRPr lang="ru-RU" dirty="0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48918" y="3284984"/>
            <a:ext cx="7078212" cy="41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3.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test_search_more_in_popular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–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100% прохождение теста</a:t>
            </a:r>
            <a:endParaRPr lang="ru-RU" dirty="0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0954" y="451307"/>
            <a:ext cx="5713414" cy="2912058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0954" y="3703481"/>
            <a:ext cx="6327566" cy="289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217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172824" y="44624"/>
            <a:ext cx="7078212" cy="385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4.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test_search_negative_symbol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–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100% прохождение теста</a:t>
            </a:r>
            <a:endParaRPr lang="ru-RU" dirty="0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48918" y="3284984"/>
            <a:ext cx="7078212" cy="41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5.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test_search_negative_</a:t>
            </a:r>
            <a:r>
              <a:rPr lang="en-US" dirty="0" smtClean="0">
                <a:solidFill>
                  <a:schemeClr val="dk1"/>
                </a:solidFill>
                <a:latin typeface="Times New Roman" pitchFamily="18" charset="0"/>
                <a:cs typeface="Times New Roman" pitchFamily="18" charset="0"/>
              </a:rPr>
              <a:t>asdfghjkl123456</a:t>
            </a:r>
            <a:r>
              <a:rPr lang="ru-RU" dirty="0" smtClean="0">
                <a:solidFill>
                  <a:schemeClr val="dk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–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100% прохождение теста</a:t>
            </a:r>
            <a:endParaRPr lang="ru-RU" dirty="0">
              <a:latin typeface="Times New Roman" pitchFamily="18" charset="0"/>
              <a:ea typeface="Calibri"/>
              <a:cs typeface="Times New Roman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5305" y="449316"/>
            <a:ext cx="6271826" cy="289703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8951" y="3759126"/>
            <a:ext cx="6431481" cy="298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92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246744"/>
              </p:ext>
            </p:extLst>
          </p:nvPr>
        </p:nvGraphicFramePr>
        <p:xfrm>
          <a:off x="1259631" y="657562"/>
          <a:ext cx="7629495" cy="233939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14349"/>
                <a:gridCol w="3815146"/>
              </a:tblGrid>
              <a:tr h="334199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 dirty="0">
                          <a:effectLst/>
                        </a:rPr>
                        <a:t>ПОКАЗАТЕЛЬ</a:t>
                      </a:r>
                      <a:endParaRPr lang="ru-RU" sz="16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>
                          <a:effectLst/>
                        </a:rPr>
                        <a:t>ЗНАЧЕНИЕ</a:t>
                      </a:r>
                      <a:endParaRPr lang="ru-RU" sz="16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334199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>
                          <a:effectLst/>
                        </a:rPr>
                        <a:t>Всего проверок(чек лист)</a:t>
                      </a:r>
                      <a:endParaRPr lang="ru-RU" sz="16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>
                          <a:effectLst/>
                        </a:rPr>
                        <a:t>39</a:t>
                      </a:r>
                      <a:endParaRPr lang="ru-RU" sz="16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334199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>
                          <a:effectLst/>
                        </a:rPr>
                        <a:t>Успешно пройдено</a:t>
                      </a:r>
                      <a:endParaRPr lang="ru-RU" sz="16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>
                          <a:effectLst/>
                        </a:rPr>
                        <a:t>39</a:t>
                      </a:r>
                      <a:endParaRPr lang="ru-RU" sz="16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334199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>
                          <a:effectLst/>
                        </a:rPr>
                        <a:t>Провалено/Найдено багов</a:t>
                      </a:r>
                      <a:endParaRPr lang="ru-RU" sz="16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>
                          <a:effectLst/>
                        </a:rPr>
                        <a:t>0</a:t>
                      </a:r>
                      <a:endParaRPr lang="ru-RU" sz="16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334199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 dirty="0">
                          <a:effectLst/>
                        </a:rPr>
                        <a:t>Критических багов</a:t>
                      </a:r>
                      <a:endParaRPr lang="ru-RU" sz="16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>
                          <a:effectLst/>
                        </a:rPr>
                        <a:t>0</a:t>
                      </a:r>
                      <a:endParaRPr lang="ru-RU" sz="16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334199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>
                          <a:effectLst/>
                        </a:rPr>
                        <a:t>Автотестов разработано</a:t>
                      </a:r>
                      <a:endParaRPr lang="ru-RU" sz="16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 dirty="0" smtClean="0">
                          <a:effectLst/>
                        </a:rPr>
                        <a:t>5</a:t>
                      </a:r>
                      <a:r>
                        <a:rPr lang="en-US" sz="1600" dirty="0" smtClean="0">
                          <a:effectLst/>
                        </a:rPr>
                        <a:t> (10 </a:t>
                      </a:r>
                      <a:r>
                        <a:rPr lang="ru-RU" sz="1600" dirty="0" smtClean="0">
                          <a:effectLst/>
                        </a:rPr>
                        <a:t>с</a:t>
                      </a:r>
                      <a:r>
                        <a:rPr lang="ru-RU" sz="1600" baseline="0" dirty="0" smtClean="0">
                          <a:effectLst/>
                        </a:rPr>
                        <a:t> учетом </a:t>
                      </a:r>
                      <a:r>
                        <a:rPr lang="en-US" sz="1600" baseline="0" dirty="0" smtClean="0">
                          <a:effectLst/>
                        </a:rPr>
                        <a:t>Chrome </a:t>
                      </a:r>
                      <a:r>
                        <a:rPr lang="ru-RU" sz="1600" baseline="0" dirty="0" smtClean="0">
                          <a:effectLst/>
                        </a:rPr>
                        <a:t>и </a:t>
                      </a:r>
                      <a:r>
                        <a:rPr lang="en-US" sz="1600" baseline="0" dirty="0" smtClean="0">
                          <a:effectLst/>
                        </a:rPr>
                        <a:t>Firefox</a:t>
                      </a:r>
                      <a:r>
                        <a:rPr lang="ru-RU" sz="1600" baseline="0" dirty="0" smtClean="0">
                          <a:effectLst/>
                        </a:rPr>
                        <a:t>)</a:t>
                      </a:r>
                      <a:endParaRPr lang="ru-RU" sz="16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  <a:tr h="334199">
                <a:tc>
                  <a:txBody>
                    <a:bodyPr/>
                    <a:lstStyle/>
                    <a:p>
                      <a:pPr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>
                          <a:effectLst/>
                        </a:rPr>
                        <a:t>Процент прохождения атотестов</a:t>
                      </a:r>
                      <a:endParaRPr lang="ru-RU" sz="16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ru-RU" sz="1600" dirty="0">
                          <a:effectLst/>
                        </a:rPr>
                        <a:t>100%</a:t>
                      </a:r>
                      <a:endParaRPr lang="ru-RU" sz="16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1469463" y="3356992"/>
            <a:ext cx="7351009" cy="2523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304704" rIns="9144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81025" algn="l"/>
                <a:tab pos="914400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</a:pPr>
            <a:r>
              <a:rPr kumimoji="0" lang="ru-RU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Основные выводы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581025" algn="l"/>
                <a:tab pos="914400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</a:pPr>
            <a:endParaRPr kumimoji="0" lang="ru-RU" b="1" i="0" u="none" strike="noStrike" cap="none" normalizeH="0" baseline="0" dirty="0" smtClean="0">
              <a:ln>
                <a:noFill/>
              </a:ln>
              <a:solidFill>
                <a:srgbClr val="4F81BD"/>
              </a:solidFill>
              <a:effectLst/>
              <a:latin typeface="Times New Roman" pitchFamily="18" charset="0"/>
              <a:ea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581025" algn="l"/>
                <a:tab pos="914400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</a:pPr>
            <a:r>
              <a:rPr kumimoji="0" lang="ru-RU" sz="1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Поиск и фильтрация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 работают корректно.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581025" algn="l"/>
                <a:tab pos="914400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</a:pP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581025" algn="l"/>
                <a:tab pos="914400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</a:pPr>
            <a:r>
              <a:rPr kumimoji="0" lang="ru-RU" sz="1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Кросс-</a:t>
            </a:r>
            <a:r>
              <a:rPr kumimoji="0" lang="ru-RU" sz="1400" b="1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браузерная</a:t>
            </a:r>
            <a:r>
              <a:rPr kumimoji="0" lang="ru-RU" sz="1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совместимость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:</a:t>
            </a: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581025" algn="l"/>
                <a:tab pos="914400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</a:pP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Основная функциональность работает во всех браузерах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581025" algn="l"/>
                <a:tab pos="914400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</a:pP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581025" algn="l"/>
                <a:tab pos="914400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</a:pPr>
            <a:r>
              <a:rPr kumimoji="0" lang="ru-RU" sz="1400" b="1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Юзабилити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:</a:t>
            </a: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581025" algn="l"/>
                <a:tab pos="914400" algn="l"/>
                <a:tab pos="1163638" algn="l"/>
                <a:tab pos="1744663" algn="l"/>
                <a:tab pos="2327275" algn="l"/>
                <a:tab pos="2908300" algn="l"/>
                <a:tab pos="3489325" algn="l"/>
                <a:tab pos="4071938" algn="l"/>
                <a:tab pos="4652963" algn="l"/>
                <a:tab pos="5235575" algn="l"/>
                <a:tab pos="5816600" algn="l"/>
                <a:tab pos="6397625" algn="l"/>
                <a:tab pos="6980238" algn="l"/>
                <a:tab pos="7561263" algn="l"/>
                <a:tab pos="8143875" algn="l"/>
                <a:tab pos="8724900" algn="l"/>
                <a:tab pos="9305925" algn="l"/>
              </a:tabLst>
            </a:pP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Интерфейс интуитивно понятен</a:t>
            </a: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87392" y="185618"/>
            <a:ext cx="2143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kumimoji="0" lang="ru-RU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Общая статистика</a:t>
            </a:r>
            <a:endParaRPr kumimoji="0" lang="ru-RU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049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/>
          <p:cNvSpPr>
            <a:spLocks noChangeArrowheads="1"/>
          </p:cNvSpPr>
          <p:nvPr/>
        </p:nvSpPr>
        <p:spPr bwMode="auto">
          <a:xfrm>
            <a:off x="5364088" y="386433"/>
            <a:ext cx="3354046" cy="6247864"/>
          </a:xfrm>
          <a:prstGeom prst="rect">
            <a:avLst/>
          </a:prstGeom>
          <a:solidFill>
            <a:srgbClr val="191A1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1000" dirty="0" err="1">
                <a:solidFill>
                  <a:srgbClr val="50B452"/>
                </a:solidFill>
              </a:rPr>
              <a:t>Litres</a:t>
            </a:r>
            <a:r>
              <a:rPr lang="en-US" sz="1000" dirty="0">
                <a:solidFill>
                  <a:srgbClr val="50B452"/>
                </a:solidFill>
              </a:rPr>
              <a:t>-testing/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├── </a:t>
            </a:r>
            <a:r>
              <a:rPr lang="en-US" sz="1000" dirty="0" err="1">
                <a:solidFill>
                  <a:srgbClr val="50B452"/>
                </a:solidFill>
              </a:rPr>
              <a:t>venv</a:t>
            </a:r>
            <a:r>
              <a:rPr lang="en-US" sz="1000" dirty="0">
                <a:solidFill>
                  <a:srgbClr val="50B452"/>
                </a:solidFill>
              </a:rPr>
              <a:t>/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 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├── </a:t>
            </a:r>
            <a:r>
              <a:rPr lang="en-US" sz="1000" dirty="0" err="1">
                <a:solidFill>
                  <a:srgbClr val="50B452"/>
                </a:solidFill>
              </a:rPr>
              <a:t>allure_result</a:t>
            </a:r>
            <a:r>
              <a:rPr lang="en-US" sz="1000" dirty="0">
                <a:solidFill>
                  <a:srgbClr val="50B452"/>
                </a:solidFill>
              </a:rPr>
              <a:t>/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|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├── </a:t>
            </a:r>
            <a:r>
              <a:rPr lang="en-US" sz="1000" dirty="0" err="1">
                <a:solidFill>
                  <a:srgbClr val="50B452"/>
                </a:solidFill>
              </a:rPr>
              <a:t>MindMap</a:t>
            </a:r>
            <a:r>
              <a:rPr lang="en-US" sz="1000" dirty="0">
                <a:solidFill>
                  <a:srgbClr val="50B452"/>
                </a:solidFill>
              </a:rPr>
              <a:t>/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└── MindMap_Litres.jpg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├── test-plan/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└── TestPlan_Litres.pdf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├── checklist/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└── ChecList_Litres.pdf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├── test-cases/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└── TestCases_Litres.pdf 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├── </a:t>
            </a:r>
            <a:r>
              <a:rPr lang="en-US" sz="1000" dirty="0" err="1">
                <a:solidFill>
                  <a:srgbClr val="50B452"/>
                </a:solidFill>
              </a:rPr>
              <a:t>skrin</a:t>
            </a:r>
            <a:r>
              <a:rPr lang="en-US" sz="1000" dirty="0">
                <a:solidFill>
                  <a:srgbClr val="50B452"/>
                </a:solidFill>
              </a:rPr>
              <a:t>/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├── pages/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├── __init__.py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├── base_page.py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├── main_page.py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└── search_page.py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├── tests/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├── __init__.py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├── test_litres_search_Lukyanenko.py 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├── test_litres_search_more.py    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├── test_litres_search_audio.py    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├── test_litres_search_negative_symbol.py 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   └── test_litres_search_negative_asdfghjkl123456.py        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├── README.md (</a:t>
            </a:r>
            <a:r>
              <a:rPr lang="ru-RU" sz="1000" dirty="0">
                <a:solidFill>
                  <a:srgbClr val="50B452"/>
                </a:solidFill>
              </a:rPr>
              <a:t>Инструкция по запуску </a:t>
            </a:r>
            <a:r>
              <a:rPr lang="ru-RU" sz="1000" dirty="0" err="1">
                <a:solidFill>
                  <a:srgbClr val="50B452"/>
                </a:solidFill>
              </a:rPr>
              <a:t>автотестов</a:t>
            </a:r>
            <a:r>
              <a:rPr lang="ru-RU" sz="1000" dirty="0">
                <a:solidFill>
                  <a:srgbClr val="50B452"/>
                </a:solidFill>
              </a:rPr>
              <a:t>)</a:t>
            </a:r>
            <a:br>
              <a:rPr lang="ru-RU" sz="1000" dirty="0">
                <a:solidFill>
                  <a:srgbClr val="50B452"/>
                </a:solidFill>
              </a:rPr>
            </a:br>
            <a:r>
              <a:rPr lang="ru-RU" sz="1000" dirty="0">
                <a:solidFill>
                  <a:srgbClr val="50B452"/>
                </a:solidFill>
              </a:rPr>
              <a:t>│</a:t>
            </a:r>
            <a:br>
              <a:rPr lang="ru-RU" sz="1000" dirty="0">
                <a:solidFill>
                  <a:srgbClr val="50B452"/>
                </a:solidFill>
              </a:rPr>
            </a:br>
            <a:r>
              <a:rPr lang="ru-RU" sz="1000" dirty="0">
                <a:solidFill>
                  <a:srgbClr val="50B452"/>
                </a:solidFill>
              </a:rPr>
              <a:t>├── </a:t>
            </a:r>
            <a:r>
              <a:rPr lang="en-US" sz="1000" dirty="0">
                <a:solidFill>
                  <a:srgbClr val="50B452"/>
                </a:solidFill>
              </a:rPr>
              <a:t>pytest.ini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│</a:t>
            </a:r>
            <a:br>
              <a:rPr lang="en-US" sz="1000" dirty="0">
                <a:solidFill>
                  <a:srgbClr val="50B452"/>
                </a:solidFill>
              </a:rPr>
            </a:br>
            <a:r>
              <a:rPr lang="en-US" sz="1000" dirty="0">
                <a:solidFill>
                  <a:srgbClr val="50B452"/>
                </a:solidFill>
              </a:rPr>
              <a:t>└── conftest.py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rgbClr val="50B452"/>
                </a:solidFill>
                <a:effectLst/>
                <a:latin typeface="JetBrains Mono"/>
                <a:cs typeface="Arial" pitchFamily="34" charset="0"/>
              </a:rPr>
              <a:t>        </a:t>
            </a:r>
            <a:endParaRPr kumimoji="0" lang="ru-RU" sz="1800" b="0" i="0" u="none" strike="noStrike" cap="none" normalizeH="0" baseline="0" dirty="0" smtClean="0">
              <a:ln>
                <a:noFill/>
              </a:ln>
              <a:solidFill>
                <a:srgbClr val="50B452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04046" y="585554"/>
            <a:ext cx="3744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Окончательная структура проекта выглядит следующим образом: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568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763688" y="2492896"/>
            <a:ext cx="65527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 smtClean="0">
                <a:latin typeface="Times New Roman" pitchFamily="18" charset="0"/>
                <a:cs typeface="Times New Roman" pitchFamily="18" charset="0"/>
              </a:rPr>
              <a:t>Спасибо за внимание!</a:t>
            </a:r>
            <a:endParaRPr lang="ru-RU" sz="4000" b="1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950124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лнцестояние">
  <a:themeElements>
    <a:clrScheme name="Солнцестояние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Солнцестояние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олнцестояние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1007</TotalTime>
  <Words>583</Words>
  <Application>Microsoft Office PowerPoint</Application>
  <PresentationFormat>Экран (4:3)</PresentationFormat>
  <Paragraphs>180</Paragraphs>
  <Slides>18</Slides>
  <Notes>0</Notes>
  <HiddenSlides>0</HiddenSlides>
  <MMClips>0</MMClips>
  <ScaleCrop>false</ScaleCrop>
  <HeadingPairs>
    <vt:vector size="6" baseType="variant"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2</vt:i4>
      </vt:variant>
      <vt:variant>
        <vt:lpstr>Заголовки слайдов</vt:lpstr>
      </vt:variant>
      <vt:variant>
        <vt:i4>18</vt:i4>
      </vt:variant>
    </vt:vector>
  </HeadingPairs>
  <TitlesOfParts>
    <vt:vector size="21" baseType="lpstr">
      <vt:lpstr>Солнцестояние</vt:lpstr>
      <vt:lpstr>Document</vt:lpstr>
      <vt:lpstr>Worksheet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Работа: Тестирование раздела "Популярное" на Litres.ru</dc:title>
  <dc:creator>Ваньков Дмитрий Петрович</dc:creator>
  <cp:lastModifiedBy>Дмитрий</cp:lastModifiedBy>
  <cp:revision>58</cp:revision>
  <dcterms:created xsi:type="dcterms:W3CDTF">2026-03-31T05:50:10Z</dcterms:created>
  <dcterms:modified xsi:type="dcterms:W3CDTF">2026-04-11T18:28:22Z</dcterms:modified>
</cp:coreProperties>
</file>