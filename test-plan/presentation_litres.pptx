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61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30" d="100"/>
          <a:sy n="130" d="100"/>
        </p:scale>
        <p:origin x="-1074" y="3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CAAF16A9-B34B-4F3D-838F-352F13BB605C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3212976"/>
            <a:ext cx="3816424" cy="457200"/>
          </a:xfrm>
        </p:spPr>
        <p:txBody>
          <a:bodyPr>
            <a:normAutofit/>
          </a:bodyPr>
          <a:lstStyle/>
          <a:p>
            <a:r>
              <a:rPr lang="ru-RU" b="1" dirty="0"/>
              <a:t>Цель работы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860032" y="116632"/>
            <a:ext cx="309634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>
                    <a:lumMod val="95000"/>
                  </a:schemeClr>
                </a:solidFill>
              </a:rPr>
              <a:t>Данный проект представляет собой работу по тестированию веб-приложения. В качестве объекта тестирования выбран раздел </a:t>
            </a:r>
            <a:r>
              <a:rPr lang="ru-RU" sz="1600" dirty="0" smtClean="0">
                <a:solidFill>
                  <a:schemeClr val="bg1">
                    <a:lumMod val="95000"/>
                  </a:schemeClr>
                </a:solidFill>
              </a:rPr>
              <a:t>«</a:t>
            </a:r>
            <a:r>
              <a:rPr lang="ru-RU" sz="1600" dirty="0">
                <a:solidFill>
                  <a:schemeClr val="bg1">
                    <a:lumMod val="95000"/>
                  </a:schemeClr>
                </a:solidFill>
              </a:rPr>
              <a:t>Популярное</a:t>
            </a:r>
            <a:r>
              <a:rPr lang="ru-RU" sz="1600" dirty="0" smtClean="0">
                <a:solidFill>
                  <a:schemeClr val="bg1">
                    <a:lumMod val="95000"/>
                  </a:schemeClr>
                </a:solidFill>
              </a:rPr>
              <a:t>» </a:t>
            </a:r>
            <a:r>
              <a:rPr lang="ru-RU" sz="1600" dirty="0">
                <a:solidFill>
                  <a:schemeClr val="bg1">
                    <a:lumMod val="95000"/>
                  </a:schemeClr>
                </a:solidFill>
              </a:rPr>
              <a:t>на сайте </a:t>
            </a:r>
            <a:r>
              <a:rPr lang="en-US" sz="1600" dirty="0" err="1" smtClean="0">
                <a:solidFill>
                  <a:schemeClr val="bg1">
                    <a:lumMod val="95000"/>
                  </a:schemeClr>
                </a:solidFill>
              </a:rPr>
              <a:t>Litres</a:t>
            </a:r>
            <a:r>
              <a:rPr lang="ru-RU" sz="1600" dirty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en-US" sz="1600" dirty="0" err="1" smtClean="0">
                <a:solidFill>
                  <a:schemeClr val="bg1">
                    <a:lumMod val="95000"/>
                  </a:schemeClr>
                </a:solidFill>
              </a:rPr>
              <a:t>ru</a:t>
            </a:r>
            <a:r>
              <a:rPr lang="ru-RU" sz="1600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ru-RU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467544" y="327548"/>
            <a:ext cx="3816424" cy="1301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1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/>
              <a:t>Работа: Тестирование раздела "Популярное" на </a:t>
            </a:r>
            <a:r>
              <a:rPr lang="en-US" sz="2400" b="1" dirty="0" err="1"/>
              <a:t>Litres</a:t>
            </a:r>
            <a:r>
              <a:rPr lang="ru-RU" sz="2400" b="1" dirty="0"/>
              <a:t>.</a:t>
            </a:r>
            <a:r>
              <a:rPr lang="en-US" sz="2400" b="1" dirty="0" err="1"/>
              <a:t>ru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833772" y="2420888"/>
            <a:ext cx="32666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Провести тестирование функциональности поиска и фильтрации предложений в разделе «Популярное», включая:</a:t>
            </a:r>
          </a:p>
          <a:p>
            <a:r>
              <a:rPr lang="ru-RU" sz="1600" dirty="0"/>
              <a:t>- Ручное тестирование (составление тест-плана, чек-листа, тест-кейсов)</a:t>
            </a:r>
          </a:p>
          <a:p>
            <a:r>
              <a:rPr lang="ru-RU" sz="1600" dirty="0"/>
              <a:t>- Автоматизированное тестирование (написание </a:t>
            </a:r>
            <a:r>
              <a:rPr lang="ru-RU" sz="1600" dirty="0" err="1"/>
              <a:t>автотестов</a:t>
            </a:r>
            <a:r>
              <a:rPr lang="ru-RU" sz="1600" dirty="0"/>
              <a:t>)</a:t>
            </a:r>
          </a:p>
          <a:p>
            <a:r>
              <a:rPr lang="ru-RU" sz="1600" dirty="0"/>
              <a:t>- Документирование найденных дефектов</a:t>
            </a:r>
          </a:p>
          <a:p>
            <a:r>
              <a:rPr lang="ru-RU" sz="1600" dirty="0"/>
              <a:t>- Подготовку итогового отчета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8328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idx="1"/>
          </p:nvPr>
        </p:nvSpPr>
        <p:spPr>
          <a:xfrm>
            <a:off x="1043608" y="692696"/>
            <a:ext cx="3359623" cy="5468112"/>
          </a:xfrm>
        </p:spPr>
      </p:sp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>
          <a:xfrm>
            <a:off x="4644008" y="692696"/>
            <a:ext cx="3444589" cy="2448272"/>
          </a:xfrm>
        </p:spPr>
        <p:txBody>
          <a:bodyPr/>
          <a:lstStyle/>
          <a:p>
            <a:r>
              <a:rPr lang="ru-RU" b="1" dirty="0" smtClean="0"/>
              <a:t>Название –</a:t>
            </a:r>
          </a:p>
          <a:p>
            <a:pPr algn="r"/>
            <a:r>
              <a:rPr lang="en-US" dirty="0" smtClean="0"/>
              <a:t>Litres.ru – </a:t>
            </a:r>
            <a:r>
              <a:rPr lang="ru-RU" dirty="0" smtClean="0"/>
              <a:t>раздел «Популярное»</a:t>
            </a:r>
          </a:p>
          <a:p>
            <a:r>
              <a:rPr lang="en-US" b="1" dirty="0" smtClean="0"/>
              <a:t>URL</a:t>
            </a:r>
            <a:r>
              <a:rPr lang="ru-RU" b="1" dirty="0" smtClean="0"/>
              <a:t> –</a:t>
            </a:r>
            <a:r>
              <a:rPr lang="ru-RU" dirty="0" smtClean="0"/>
              <a:t> </a:t>
            </a:r>
          </a:p>
          <a:p>
            <a:pPr algn="r"/>
            <a:r>
              <a:rPr lang="en-US" dirty="0"/>
              <a:t>https</a:t>
            </a:r>
            <a:r>
              <a:rPr lang="ru-RU" dirty="0"/>
              <a:t>://</a:t>
            </a:r>
            <a:r>
              <a:rPr lang="en-US" dirty="0"/>
              <a:t>www</a:t>
            </a:r>
            <a:r>
              <a:rPr lang="ru-RU" dirty="0"/>
              <a:t>.</a:t>
            </a:r>
            <a:r>
              <a:rPr lang="en-US" dirty="0" err="1"/>
              <a:t>litres</a:t>
            </a:r>
            <a:r>
              <a:rPr lang="ru-RU" dirty="0"/>
              <a:t>.</a:t>
            </a:r>
            <a:r>
              <a:rPr lang="en-US" dirty="0" err="1"/>
              <a:t>ru</a:t>
            </a:r>
            <a:r>
              <a:rPr lang="ru-RU" dirty="0"/>
              <a:t>/</a:t>
            </a:r>
            <a:r>
              <a:rPr lang="en-US" dirty="0"/>
              <a:t>popular</a:t>
            </a:r>
            <a:r>
              <a:rPr lang="ru-RU" dirty="0" smtClean="0"/>
              <a:t>/</a:t>
            </a:r>
          </a:p>
          <a:p>
            <a:r>
              <a:rPr lang="ru-RU" b="1" dirty="0" smtClean="0"/>
              <a:t>Платформа –</a:t>
            </a:r>
            <a:r>
              <a:rPr lang="ru-RU" dirty="0" smtClean="0"/>
              <a:t> </a:t>
            </a:r>
          </a:p>
          <a:p>
            <a:pPr algn="r"/>
            <a:r>
              <a:rPr lang="en-US" dirty="0"/>
              <a:t>Web</a:t>
            </a:r>
            <a:r>
              <a:rPr lang="ru-RU" dirty="0"/>
              <a:t> (</a:t>
            </a:r>
            <a:r>
              <a:rPr lang="en-US" dirty="0"/>
              <a:t>Desktop</a:t>
            </a:r>
            <a:r>
              <a:rPr lang="ru-RU" dirty="0" smtClean="0"/>
              <a:t>)</a:t>
            </a:r>
          </a:p>
          <a:p>
            <a:r>
              <a:rPr lang="ru-RU" b="1" dirty="0"/>
              <a:t>Поддерживаемые </a:t>
            </a:r>
            <a:r>
              <a:rPr lang="ru-RU" b="1" dirty="0" smtClean="0"/>
              <a:t>браузеры –</a:t>
            </a:r>
          </a:p>
          <a:p>
            <a:pPr algn="r"/>
            <a:r>
              <a:rPr lang="en-US" dirty="0"/>
              <a:t>Chrome</a:t>
            </a:r>
            <a:r>
              <a:rPr lang="ru-RU" dirty="0"/>
              <a:t>, </a:t>
            </a:r>
            <a:r>
              <a:rPr lang="en-US" dirty="0"/>
              <a:t>Firefox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004048" y="139452"/>
            <a:ext cx="2651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Объект тестирования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26" name="Picture 2" descr="F:\МОИ ДОКУМЕНТЫ\IT\ДИПЛОМ\Test_Litres\MindMap_Litr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84" y="548680"/>
            <a:ext cx="3927208" cy="572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99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2" r="4952"/>
          <a:stretch>
            <a:fillRect/>
          </a:stretch>
        </p:blipFill>
        <p:spPr/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644008" y="620688"/>
            <a:ext cx="3516597" cy="5400600"/>
          </a:xfrm>
        </p:spPr>
        <p:txBody>
          <a:bodyPr/>
          <a:lstStyle/>
          <a:p>
            <a:r>
              <a:rPr lang="ru-RU" b="1" dirty="0" smtClean="0"/>
              <a:t>Тест-план</a:t>
            </a:r>
          </a:p>
          <a:p>
            <a:r>
              <a:rPr lang="ru-RU" sz="1400" dirty="0" smtClean="0"/>
              <a:t>Файл: </a:t>
            </a:r>
            <a:r>
              <a:rPr lang="en-US" sz="1400" dirty="0" smtClean="0"/>
              <a:t>test-</a:t>
            </a:r>
            <a:r>
              <a:rPr lang="en-US" sz="1400" dirty="0" err="1" smtClean="0"/>
              <a:t>lan</a:t>
            </a:r>
            <a:r>
              <a:rPr lang="en-US" sz="1400" dirty="0" smtClean="0"/>
              <a:t>/TestPlan_Litres.pdf</a:t>
            </a:r>
            <a:endParaRPr lang="ru-RU" sz="1400" dirty="0"/>
          </a:p>
          <a:p>
            <a:r>
              <a:rPr lang="ru-RU" b="1" dirty="0" smtClean="0"/>
              <a:t>Чек-лист</a:t>
            </a:r>
          </a:p>
          <a:p>
            <a:r>
              <a:rPr lang="ru-RU" sz="1400" dirty="0" smtClean="0"/>
              <a:t>Файл </a:t>
            </a:r>
            <a:r>
              <a:rPr lang="ru-RU" sz="1400" dirty="0" err="1" smtClean="0"/>
              <a:t>checklists</a:t>
            </a:r>
            <a:r>
              <a:rPr lang="ru-RU" sz="1400" dirty="0" smtClean="0"/>
              <a:t>/</a:t>
            </a:r>
            <a:r>
              <a:rPr lang="ru-RU" sz="1400" dirty="0" err="1" smtClean="0"/>
              <a:t>Check</a:t>
            </a:r>
            <a:r>
              <a:rPr lang="en-US" sz="1400" dirty="0"/>
              <a:t>L</a:t>
            </a:r>
            <a:r>
              <a:rPr lang="ru-RU" sz="1400" dirty="0" err="1"/>
              <a:t>ist</a:t>
            </a:r>
            <a:r>
              <a:rPr lang="ru-RU" sz="1400" dirty="0"/>
              <a:t>_</a:t>
            </a:r>
            <a:r>
              <a:rPr lang="en-US" sz="1400" dirty="0" err="1"/>
              <a:t>Litres</a:t>
            </a:r>
            <a:r>
              <a:rPr lang="ru-RU" sz="1400" dirty="0"/>
              <a:t>.</a:t>
            </a:r>
            <a:r>
              <a:rPr lang="en-US" sz="1400" dirty="0" err="1" smtClean="0"/>
              <a:t>pdf</a:t>
            </a:r>
            <a:endParaRPr lang="ru-RU" sz="1400" dirty="0" smtClean="0"/>
          </a:p>
          <a:p>
            <a:r>
              <a:rPr lang="ru-RU" b="1" dirty="0"/>
              <a:t>Тест</a:t>
            </a:r>
            <a:r>
              <a:rPr lang="en-US" b="1" dirty="0"/>
              <a:t>-</a:t>
            </a:r>
            <a:r>
              <a:rPr lang="ru-RU" b="1" dirty="0" smtClean="0"/>
              <a:t>кейсы</a:t>
            </a:r>
          </a:p>
          <a:p>
            <a:r>
              <a:rPr lang="ru-RU" sz="1400" dirty="0"/>
              <a:t>Файл</a:t>
            </a:r>
            <a:r>
              <a:rPr lang="en-US" sz="1400" dirty="0"/>
              <a:t>: test-cases/TestCases_Litres.pdf</a:t>
            </a:r>
            <a:endParaRPr lang="ru-RU" sz="1400" dirty="0"/>
          </a:p>
          <a:p>
            <a:r>
              <a:rPr lang="ru-RU" b="1" dirty="0" smtClean="0"/>
              <a:t>Баг-репорты</a:t>
            </a:r>
          </a:p>
          <a:p>
            <a:r>
              <a:rPr lang="ru-RU" sz="1400" dirty="0"/>
              <a:t>Баги не выявлены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004048" y="139452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Структура проекта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79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671058" y="139452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>
                <a:solidFill>
                  <a:schemeClr val="bg1">
                    <a:lumMod val="95000"/>
                  </a:schemeClr>
                </a:solidFill>
              </a:rPr>
              <a:t>Автотесты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908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18933"/>
              </p:ext>
            </p:extLst>
          </p:nvPr>
        </p:nvGraphicFramePr>
        <p:xfrm>
          <a:off x="528762" y="1844824"/>
          <a:ext cx="8064897" cy="29969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822"/>
                <a:gridCol w="2293466"/>
                <a:gridCol w="2880320"/>
                <a:gridCol w="2592289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№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Файл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Название теста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Описание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</a:rPr>
                        <a:t>test_litres_search_Lukyanenko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test_search_lukyanenko_in_popular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</a:rPr>
                        <a:t>Позитивный тест </a:t>
                      </a:r>
                      <a:r>
                        <a:rPr lang="ru-RU" sz="1000" dirty="0">
                          <a:effectLst/>
                        </a:rPr>
                        <a:t>предназначен для получения списка книг автора Лукьяненко в разделе Популярное на </a:t>
                      </a:r>
                      <a:r>
                        <a:rPr lang="en-US" sz="1000" dirty="0" err="1">
                          <a:effectLst/>
                        </a:rPr>
                        <a:t>Litres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</a:rPr>
                        <a:t>test_litres_search_audio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err="1" smtClean="0">
                          <a:effectLst/>
                        </a:rPr>
                        <a:t>test_search_audio_in_popular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Позитивный тест предназначен для получения списка аудиокниг в разделе Популярное на </a:t>
                      </a:r>
                      <a:r>
                        <a:rPr lang="en-US" sz="1000" dirty="0" err="1" smtClean="0">
                          <a:effectLst/>
                        </a:rPr>
                        <a:t>Litres</a:t>
                      </a:r>
                      <a:endParaRPr lang="ru-RU" sz="10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+mn-lt"/>
                        </a:rPr>
                        <a:t> </a:t>
                      </a:r>
                      <a:r>
                        <a:rPr lang="en-US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test_lites_sarch_more</a:t>
                      </a:r>
                      <a:endParaRPr lang="ru-RU" sz="1000" b="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err="1" smtClean="0">
                          <a:effectLst/>
                        </a:rPr>
                        <a:t>test_search_more_in_popular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Позитивный тест предназначен для увеличения списка книг по кнопке «Показать еще»</a:t>
                      </a:r>
                      <a:endParaRPr lang="ru-RU" sz="10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test_lites_sarch_</a:t>
                      </a:r>
                      <a:r>
                        <a:rPr lang="en-US" sz="1000" dirty="0" err="1" smtClean="0">
                          <a:effectLst/>
                        </a:rPr>
                        <a:t>negative_symbol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smtClean="0">
                          <a:effectLst/>
                        </a:rPr>
                        <a:t>test_search_negative_symbol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Негативный тест при </a:t>
                      </a:r>
                      <a:r>
                        <a:rPr lang="ru-RU" sz="10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обработке спецсимволов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test_lites_sarch_</a:t>
                      </a:r>
                      <a:r>
                        <a:rPr lang="en-US" sz="1000" dirty="0" err="1" smtClean="0">
                          <a:effectLst/>
                        </a:rPr>
                        <a:t>negative</a:t>
                      </a:r>
                      <a:r>
                        <a:rPr lang="en-US" sz="1000" dirty="0" smtClean="0">
                          <a:effectLst/>
                        </a:rPr>
                        <a:t>_</a:t>
                      </a:r>
                      <a:endParaRPr lang="ru-RU" sz="10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asdfghjkl123456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smtClean="0">
                          <a:effectLst/>
                        </a:rPr>
                        <a:t>test_search_negative_</a:t>
                      </a: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asdfghjkl123456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Негативный тест </a:t>
                      </a:r>
                      <a:r>
                        <a:rPr lang="ru-RU" sz="10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обработке несуществующего запроса</a:t>
                      </a:r>
                    </a:p>
                    <a:p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95536" y="399255"/>
            <a:ext cx="5131506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Разработано 5</a:t>
            </a:r>
            <a:r>
              <a:rPr kumimoji="0" lang="en-US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автотестов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с использованием:</a:t>
            </a:r>
            <a:endParaRPr kumimoji="0" lang="ru-RU" sz="1300" b="0" i="0" u="none" strike="noStrike" cap="none" normalizeH="0" baseline="0" dirty="0" smtClean="0">
              <a:ln>
                <a:noFill/>
              </a:ln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Python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3.8+ — язык программирования</a:t>
            </a:r>
            <a:endParaRPr kumimoji="0" lang="ru-RU" sz="1300" b="0" i="0" u="none" strike="noStrike" cap="none" normalizeH="0" baseline="0" dirty="0" smtClean="0">
              <a:ln>
                <a:noFill/>
              </a:ln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Selenium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WebDriver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—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фреймворк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для автоматизации браузера</a:t>
            </a:r>
            <a:endParaRPr kumimoji="0" lang="ru-RU" sz="1300" b="0" i="0" u="none" strike="noStrike" cap="none" normalizeH="0" baseline="0" dirty="0" smtClean="0">
              <a:ln>
                <a:noFill/>
              </a:ln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PyTest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— тестовый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фреймворк</a:t>
            </a:r>
            <a:endParaRPr kumimoji="0" lang="ru-RU" sz="1300" b="0" i="0" u="none" strike="noStrike" cap="none" normalizeH="0" baseline="0" dirty="0" smtClean="0">
              <a:ln>
                <a:noFill/>
              </a:ln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Page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Object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Model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Times New Roman" pitchFamily="18" charset="0"/>
              </a:rPr>
              <a:t> — паттерн проектирования</a:t>
            </a:r>
            <a:endParaRPr kumimoji="0" lang="ru-RU" sz="1300" b="0" i="0" u="none" strike="noStrike" cap="none" normalizeH="0" baseline="0" dirty="0" smtClean="0">
              <a:ln>
                <a:noFill/>
              </a:ln>
              <a:effectLst/>
              <a:cs typeface="Arial" pitchFamily="34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28408"/>
              </p:ext>
            </p:extLst>
          </p:nvPr>
        </p:nvGraphicFramePr>
        <p:xfrm>
          <a:off x="539552" y="5397184"/>
          <a:ext cx="8064896" cy="963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2110"/>
                <a:gridCol w="2030759"/>
                <a:gridCol w="4032027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Компонент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Версия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Примечание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Python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3.8+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Необходим для запуска автотестов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Google Chrome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120+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Для запуска тестов в Chrome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Mozilla Firefox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120+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Для запуска тестов в Firefox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Git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Любая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effectLst/>
                        </a:rPr>
                        <a:t>Для </a:t>
                      </a:r>
                      <a:r>
                        <a:rPr lang="ru-RU" sz="1100" dirty="0">
                          <a:effectLst/>
                        </a:rPr>
                        <a:t>клонирования </a:t>
                      </a:r>
                      <a:r>
                        <a:rPr lang="ru-RU" sz="1100" dirty="0" err="1">
                          <a:effectLst/>
                        </a:rPr>
                        <a:t>репозитория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11560" y="5085184"/>
            <a:ext cx="2808312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Программное обеспечение</a:t>
            </a:r>
            <a:endParaRPr kumimoji="0" lang="ru-RU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8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71058" y="139452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Результаты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762856"/>
              </p:ext>
            </p:extLst>
          </p:nvPr>
        </p:nvGraphicFramePr>
        <p:xfrm>
          <a:off x="683568" y="980728"/>
          <a:ext cx="7848872" cy="13495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24026"/>
                <a:gridCol w="3924846"/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ПОКАЗАТЕЛЬ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ЗНАЧЕНИЕ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Всего проверок(чек лист)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39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Успешно пройдено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39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Провалено/Найдено багов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Критических багов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0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Автотестов разработано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>
                          <a:effectLst/>
                        </a:rPr>
                        <a:t>Процент прохождения атотестов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100" dirty="0">
                          <a:effectLst/>
                        </a:rPr>
                        <a:t>100%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83568" y="2708920"/>
            <a:ext cx="7674537" cy="2523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Основные выводы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4F81BD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Поиск и фильтрация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 работают корректно.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Кросс-</a:t>
            </a: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браузерная</a:t>
            </a: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 совместимость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: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Основная функциональность работает во всех браузерах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Юзабилити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: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Segoe UI" pitchFamily="34" charset="0"/>
              </a:rPr>
              <a:t>Интерфейс интуитивно понятен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0705" y="508784"/>
            <a:ext cx="2459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ea typeface="Times New Roman" pitchFamily="18" charset="0"/>
                <a:cs typeface="Courier New" pitchFamily="49" charset="0"/>
              </a:rPr>
              <a:t>Общая статистика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4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стин">
  <a:themeElements>
    <a:clrScheme name="Остин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Остин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стин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122</TotalTime>
  <Words>263</Words>
  <Application>Microsoft Office PowerPoint</Application>
  <PresentationFormat>Экран (4:3)</PresentationFormat>
  <Paragraphs>99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Остин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Работа: Тестирование раздела "Популярное" на Litres.ru</dc:title>
  <dc:creator>Ваньков Дмитрий Петрович</dc:creator>
  <cp:lastModifiedBy>Дмитрий</cp:lastModifiedBy>
  <cp:revision>14</cp:revision>
  <dcterms:created xsi:type="dcterms:W3CDTF">2026-03-31T05:50:10Z</dcterms:created>
  <dcterms:modified xsi:type="dcterms:W3CDTF">2026-04-01T17:05:14Z</dcterms:modified>
</cp:coreProperties>
</file>